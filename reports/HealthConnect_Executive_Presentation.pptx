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Records with no matching appointment</c:v>
                </c:pt>
              </c:strCache>
            </c:strRef>
          </c:tx>
          <c:spPr>
            <a:solidFill>
              <a:srgbClr val="E4572E"/>
            </a:solidFill>
            <a:effectLst/>
          </c:spPr>
          <c:invertIfNegative val="0"/>
          <c:dLbls>
            <c:numFmt formatCode="#,##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Billing</c:v>
                  </c:pt>
                  <c:pt idx="1">
                    <c:v>Diagnoses</c:v>
                  </c:pt>
                  <c:pt idx="2">
                    <c:v>Feedback</c:v>
                  </c:pt>
                </c:lvl>
              </c:multiLvlStrCache>
            </c:multiLvlStrRef>
          </c:cat>
          <c:val>
            <c:numRef>
              <c:f>Sheet1!$B$2:$B$4</c:f>
              <c:numCache>
                <c:formatCode>General</c:formatCode>
                <c:ptCount val="3"/>
                <c:pt idx="0">
                  <c:v>55000</c:v>
                </c:pt>
                <c:pt idx="1">
                  <c:v>55000</c:v>
                </c:pt>
                <c:pt idx="2">
                  <c:v>19308</c:v>
                </c:pt>
              </c:numCache>
            </c:numRef>
          </c:val>
        </c:ser>
        <c:dLbls>
          <c:numFmt formatCode="#,##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2"/>
        <c:crosses val="autoZero"/>
        <c:auto val="1"/>
        <c:lblAlgn val="ctr"/>
        <c:noMultiLvlLbl val="1"/>
      </c:catAx>
      <c:valAx>
        <c:axId val="2094734552"/>
        <c:scaling>
          <c:orientation val="minMax"/>
          <c:max val="70000"/>
        </c:scaling>
        <c:delete val="0"/>
        <c:axPos val="b"/>
        <c:majorGridlines>
          <c:spPr>
            <a:ln w="6350" cap="flat">
              <a:solidFill>
                <a:srgbClr val="DCEBE9"/>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RWF billions</c:v>
                </c:pt>
              </c:strCache>
            </c:strRef>
          </c:tx>
          <c:spPr>
            <a:solidFill>
              <a:srgbClr val="0F8B8D"/>
            </a:solidFill>
            <a:effectLst/>
          </c:spPr>
          <c:invertIfNegative val="0"/>
          <c:dLbls>
            <c:numFmt formatCode="0.0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Billed</c:v>
                  </c:pt>
                  <c:pt idx="1">
                    <c:v>Collected</c:v>
                  </c:pt>
                  <c:pt idx="2">
                    <c:v>Outstanding</c:v>
                  </c:pt>
                </c:lvl>
              </c:multiLvlStrCache>
            </c:multiLvlStrRef>
          </c:cat>
          <c:val>
            <c:numRef>
              <c:f>Sheet1!$B$2:$B$4</c:f>
              <c:numCache>
                <c:formatCode>General</c:formatCode>
                <c:ptCount val="3"/>
                <c:pt idx="0">
                  <c:v>9.31</c:v>
                </c:pt>
                <c:pt idx="1">
                  <c:v>8.39</c:v>
                </c:pt>
                <c:pt idx="2">
                  <c:v>0.92</c:v>
                </c:pt>
              </c:numCache>
            </c:numRef>
          </c:val>
        </c:ser>
        <c:dLbls>
          <c:numFmt formatCode="0.0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DCEBE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Patients</c:v>
                </c:pt>
              </c:strCache>
            </c:strRef>
          </c:tx>
          <c:spPr>
            <a:solidFill>
              <a:srgbClr val="0F8B8D"/>
            </a:solidFill>
            <a:effectLst/>
          </c:spPr>
          <c:invertIfNegative val="0"/>
          <c:dLbls>
            <c:numFmt formatCode="#,##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0-17</c:v>
                  </c:pt>
                  <c:pt idx="1">
                    <c:v>18-34</c:v>
                  </c:pt>
                  <c:pt idx="2">
                    <c:v>35-49</c:v>
                  </c:pt>
                  <c:pt idx="3">
                    <c:v>50-64</c:v>
                  </c:pt>
                  <c:pt idx="4">
                    <c:v>65+</c:v>
                  </c:pt>
                </c:lvl>
              </c:multiLvlStrCache>
            </c:multiLvlStrRef>
          </c:cat>
          <c:val>
            <c:numRef>
              <c:f>Sheet1!$B$2:$B$6</c:f>
              <c:numCache>
                <c:formatCode>General</c:formatCode>
                <c:ptCount val="5"/>
                <c:pt idx="0">
                  <c:v>3970</c:v>
                </c:pt>
                <c:pt idx="1">
                  <c:v>3709</c:v>
                </c:pt>
                <c:pt idx="2">
                  <c:v>3330</c:v>
                </c:pt>
                <c:pt idx="3">
                  <c:v>3290</c:v>
                </c:pt>
                <c:pt idx="4">
                  <c:v>5701</c:v>
                </c:pt>
              </c:numCache>
            </c:numRef>
          </c:val>
        </c:ser>
        <c:dLbls>
          <c:numFmt formatCode="#,##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2"/>
        <c:crosses val="autoZero"/>
        <c:auto val="1"/>
        <c:lblAlgn val="ctr"/>
        <c:noMultiLvlLbl val="1"/>
      </c:catAx>
      <c:valAx>
        <c:axId val="2094734552"/>
        <c:scaling>
          <c:orientation val="minMax"/>
          <c:max val="7000"/>
        </c:scaling>
        <c:delete val="0"/>
        <c:axPos val="l"/>
        <c:majorGridlines>
          <c:spPr>
            <a:ln w="6350" cap="flat">
              <a:solidFill>
                <a:srgbClr val="DCEBE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Appointments</c:v>
                </c:pt>
              </c:strCache>
            </c:strRef>
          </c:tx>
          <c:spPr>
            <a:solidFill>
              <a:srgbClr val="0F8B8D"/>
            </a:solidFill>
            <a:ln w="38100" cap="flat">
              <a:solidFill>
                <a:srgbClr val="0F8B8D"/>
              </a:solidFill>
              <a:prstDash val="solid"/>
              <a:round/>
            </a:ln>
            <a:effectLst/>
          </c:spPr>
          <c:invertIfNegative val="0"/>
          <c:dLbls>
            <c:numFmt formatCode="#,##0" sourceLinked="0"/>
            <c:txPr>
              <a:bodyPr/>
              <a:lstStyle/>
              <a:p>
                <a:pPr>
                  <a:defRPr b="0" i="0" strike="noStrike" sz="1100" u="none">
                    <a:solidFill>
                      <a:srgbClr val="0B2A33"/>
                    </a:solidFill>
                    <a:latin typeface="+mn-lt"/>
                  </a:defRPr>
                </a:pPr>
              </a:p>
            </c:txPr>
            <c:dLblPos val="t"/>
            <c:showLegendKey val="0"/>
            <c:showVal val="1"/>
            <c:showCatName val="0"/>
            <c:showSerName val="0"/>
            <c:showPercent val="0"/>
            <c:showBubbleSize val="0"/>
            <c:showLeaderLines val="0"/>
          </c:dLbls>
          <c:marker>
            <c:symbol val="circle"/>
            <c:size val="7"/>
            <c:spPr>
              <a:solidFill>
                <a:srgbClr val="0F8B8D"/>
              </a:solidFill>
              <a:ln w="9525" cap="flat">
                <a:solidFill>
                  <a:srgbClr val="0F8B8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418</c:v>
                </c:pt>
                <c:pt idx="1">
                  <c:v>413</c:v>
                </c:pt>
                <c:pt idx="2">
                  <c:v>440</c:v>
                </c:pt>
                <c:pt idx="3">
                  <c:v>405</c:v>
                </c:pt>
                <c:pt idx="4">
                  <c:v>400</c:v>
                </c:pt>
                <c:pt idx="5">
                  <c:v>437</c:v>
                </c:pt>
                <c:pt idx="6">
                  <c:v>416</c:v>
                </c:pt>
                <c:pt idx="7">
                  <c:v>428</c:v>
                </c:pt>
                <c:pt idx="8">
                  <c:v>408</c:v>
                </c:pt>
                <c:pt idx="9">
                  <c:v>414</c:v>
                </c:pt>
                <c:pt idx="10">
                  <c:v>420</c:v>
                </c:pt>
                <c:pt idx="11">
                  <c:v>401</c:v>
                </c:pt>
              </c:numCache>
            </c:numRef>
          </c:val>
          <c:smooth val="0"/>
        </c:ser>
        <c:dLbls>
          <c:numFmt formatCode="#,##0" sourceLinked="0"/>
          <c:txPr>
            <a:bodyPr/>
            <a:lstStyle/>
            <a:p>
              <a:pPr>
                <a:defRPr b="0" i="0" strike="noStrike" sz="1100" u="none">
                  <a:solidFill>
                    <a:srgbClr val="0B2A33"/>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2"/>
        <c:crosses val="autoZero"/>
        <c:auto val="1"/>
        <c:lblAlgn val="ctr"/>
        <c:noMultiLvlLbl val="1"/>
      </c:catAx>
      <c:valAx>
        <c:axId val="2094734552"/>
        <c:scaling>
          <c:orientation val="minMax"/>
          <c:max val="500"/>
          <c:min val="0"/>
        </c:scaling>
        <c:delete val="0"/>
        <c:axPos val="l"/>
        <c:majorGridlines>
          <c:spPr>
            <a:ln w="6350" cap="flat">
              <a:solidFill>
                <a:srgbClr val="DCEB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Diagnoses</c:v>
                </c:pt>
              </c:strCache>
            </c:strRef>
          </c:tx>
          <c:spPr>
            <a:solidFill>
              <a:srgbClr val="0F8B8D"/>
            </a:solidFill>
            <a:effectLst/>
          </c:spPr>
          <c:invertIfNegative val="0"/>
          <c:dLbls>
            <c:numFmt formatCode="#,##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Upper Respiratory</c:v>
                  </c:pt>
                  <c:pt idx="1">
                    <c:v>Malaria</c:v>
                  </c:pt>
                  <c:pt idx="2">
                    <c:v>Hypertension</c:v>
                  </c:pt>
                  <c:pt idx="3">
                    <c:v>Diabetes</c:v>
                  </c:pt>
                  <c:pt idx="4">
                    <c:v>Gastritis</c:v>
                  </c:pt>
                </c:lvl>
              </c:multiLvlStrCache>
            </c:multiLvlStrRef>
          </c:cat>
          <c:val>
            <c:numRef>
              <c:f>Sheet1!$B$2:$B$6</c:f>
              <c:numCache>
                <c:formatCode>General</c:formatCode>
                <c:ptCount val="5"/>
                <c:pt idx="0">
                  <c:v>11756</c:v>
                </c:pt>
                <c:pt idx="1">
                  <c:v>11878</c:v>
                </c:pt>
                <c:pt idx="2">
                  <c:v>12075</c:v>
                </c:pt>
                <c:pt idx="3">
                  <c:v>12083</c:v>
                </c:pt>
                <c:pt idx="4">
                  <c:v>12208</c:v>
                </c:pt>
              </c:numCache>
            </c:numRef>
          </c:val>
        </c:ser>
        <c:dLbls>
          <c:numFmt formatCode="#,##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2"/>
        <c:crosses val="autoZero"/>
        <c:auto val="1"/>
        <c:lblAlgn val="ctr"/>
        <c:noMultiLvlLbl val="1"/>
      </c:catAx>
      <c:valAx>
        <c:axId val="2094734552"/>
        <c:scaling>
          <c:orientation val="minMax"/>
          <c:max val="14000"/>
          <c:min val="0"/>
        </c:scaling>
        <c:delete val="0"/>
        <c:axPos val="b"/>
        <c:majorGridlines>
          <c:spPr>
            <a:ln w="6350" cap="flat">
              <a:solidFill>
                <a:srgbClr val="DCEBE9"/>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4"/>
        <c:crosses val="autoZero"/>
        <c:crossBetween val="between"/>
        <c:majorUnit val="2000"/>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Claim value (RWF M)</c:v>
                </c:pt>
              </c:strCache>
            </c:strRef>
          </c:tx>
          <c:spPr>
            <a:solidFill>
              <a:srgbClr val="0F8B8D"/>
            </a:solidFill>
            <a:effectLst/>
          </c:spPr>
          <c:invertIfNegative val="0"/>
          <c:dLbls>
            <c:numFmt formatCode="#,##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Radiant</c:v>
                  </c:pt>
                  <c:pt idx="1">
                    <c:v>Private</c:v>
                  </c:pt>
                  <c:pt idx="2">
                    <c:v>RSSB</c:v>
                  </c:pt>
                  <c:pt idx="3">
                    <c:v>MMI</c:v>
                  </c:pt>
                </c:lvl>
              </c:multiLvlStrCache>
            </c:multiLvlStrRef>
          </c:cat>
          <c:val>
            <c:numRef>
              <c:f>Sheet1!$B$2:$B$5</c:f>
              <c:numCache>
                <c:formatCode>General</c:formatCode>
                <c:ptCount val="4"/>
                <c:pt idx="0">
                  <c:v>1236.5</c:v>
                </c:pt>
                <c:pt idx="1">
                  <c:v>1217.5</c:v>
                </c:pt>
                <c:pt idx="2">
                  <c:v>1214.6</c:v>
                </c:pt>
                <c:pt idx="3">
                  <c:v>1213.2</c:v>
                </c:pt>
              </c:numCache>
            </c:numRef>
          </c:val>
        </c:ser>
        <c:dLbls>
          <c:numFmt formatCode="#,##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2"/>
        <c:crosses val="autoZero"/>
        <c:auto val="1"/>
        <c:lblAlgn val="ctr"/>
        <c:noMultiLvlLbl val="1"/>
      </c:catAx>
      <c:valAx>
        <c:axId val="2094734552"/>
        <c:scaling>
          <c:orientation val="minMax"/>
          <c:max val="1500"/>
          <c:min val="0"/>
        </c:scaling>
        <c:delete val="0"/>
        <c:axPos val="l"/>
        <c:majorGridlines>
          <c:spPr>
            <a:ln w="6350" cap="flat">
              <a:solidFill>
                <a:srgbClr val="DCEBE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Appointments</c:v>
                </c:pt>
              </c:strCache>
            </c:strRef>
          </c:tx>
          <c:spPr>
            <a:solidFill>
              <a:srgbClr val="0F8B8D"/>
            </a:solidFill>
            <a:effectLst/>
          </c:spPr>
          <c:invertIfNegative val="0"/>
          <c:dLbls>
            <c:numFmt formatCode="#,##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cat>
            <c:multiLvlStrRef>
              <c:f>Sheet1!$A$2:$A$21</c:f>
              <c:multiLvlStrCache>
                <c:ptCount val="20"/>
                <c:lvl>
                  <c:pt idx="0">
                    <c:v>HF001</c:v>
                  </c:pt>
                  <c:pt idx="1">
                    <c:v>HF002</c:v>
                  </c:pt>
                  <c:pt idx="2">
                    <c:v>HF003</c:v>
                  </c:pt>
                  <c:pt idx="3">
                    <c:v>HF004</c:v>
                  </c:pt>
                  <c:pt idx="4">
                    <c:v>HF005</c:v>
                  </c:pt>
                  <c:pt idx="5">
                    <c:v>HF006</c:v>
                  </c:pt>
                  <c:pt idx="6">
                    <c:v>HF007</c:v>
                  </c:pt>
                  <c:pt idx="7">
                    <c:v>HF008</c:v>
                  </c:pt>
                  <c:pt idx="8">
                    <c:v>HF009</c:v>
                  </c:pt>
                  <c:pt idx="9">
                    <c:v>HF010</c:v>
                  </c:pt>
                  <c:pt idx="10">
                    <c:v>HF011</c:v>
                  </c:pt>
                  <c:pt idx="11">
                    <c:v>HF012</c:v>
                  </c:pt>
                  <c:pt idx="12">
                    <c:v>HF013</c:v>
                  </c:pt>
                  <c:pt idx="13">
                    <c:v>HF014</c:v>
                  </c:pt>
                  <c:pt idx="14">
                    <c:v>HF015</c:v>
                  </c:pt>
                  <c:pt idx="15">
                    <c:v>HF016</c:v>
                  </c:pt>
                  <c:pt idx="16">
                    <c:v>HF017</c:v>
                  </c:pt>
                  <c:pt idx="17">
                    <c:v>HF018</c:v>
                  </c:pt>
                  <c:pt idx="18">
                    <c:v>HF019</c:v>
                  </c:pt>
                  <c:pt idx="19">
                    <c:v>HF020</c:v>
                  </c:pt>
                </c:lvl>
              </c:multiLvlStrCache>
            </c:multiLvlStrRef>
          </c:cat>
          <c:val>
            <c:numRef>
              <c:f>Sheet1!$B$2:$B$21</c:f>
              <c:numCache>
                <c:formatCode>General</c:formatCode>
                <c:ptCount val="20"/>
                <c:pt idx="0">
                  <c:v>225</c:v>
                </c:pt>
                <c:pt idx="1">
                  <c:v>229</c:v>
                </c:pt>
                <c:pt idx="2">
                  <c:v>243</c:v>
                </c:pt>
                <c:pt idx="3">
                  <c:v>290</c:v>
                </c:pt>
                <c:pt idx="4">
                  <c:v>227</c:v>
                </c:pt>
                <c:pt idx="5">
                  <c:v>242</c:v>
                </c:pt>
                <c:pt idx="6">
                  <c:v>261</c:v>
                </c:pt>
                <c:pt idx="7">
                  <c:v>260</c:v>
                </c:pt>
                <c:pt idx="8">
                  <c:v>253</c:v>
                </c:pt>
                <c:pt idx="9">
                  <c:v>261</c:v>
                </c:pt>
                <c:pt idx="10">
                  <c:v>235</c:v>
                </c:pt>
                <c:pt idx="11">
                  <c:v>269</c:v>
                </c:pt>
                <c:pt idx="12">
                  <c:v>237</c:v>
                </c:pt>
                <c:pt idx="13">
                  <c:v>251</c:v>
                </c:pt>
                <c:pt idx="14">
                  <c:v>236</c:v>
                </c:pt>
                <c:pt idx="15">
                  <c:v>253</c:v>
                </c:pt>
                <c:pt idx="16">
                  <c:v>253</c:v>
                </c:pt>
                <c:pt idx="17">
                  <c:v>264</c:v>
                </c:pt>
                <c:pt idx="18">
                  <c:v>250</c:v>
                </c:pt>
                <c:pt idx="19">
                  <c:v>261</c:v>
                </c:pt>
              </c:numCache>
            </c:numRef>
          </c:val>
        </c:ser>
        <c:dLbls>
          <c:numFmt formatCode="#,##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2"/>
        <c:crosses val="autoZero"/>
        <c:auto val="1"/>
        <c:lblAlgn val="ctr"/>
        <c:noMultiLvlLbl val="1"/>
      </c:catAx>
      <c:valAx>
        <c:axId val="2094734552"/>
        <c:scaling>
          <c:orientation val="minMax"/>
          <c:max val="350"/>
          <c:min val="0"/>
        </c:scaling>
        <c:delete val="0"/>
        <c:axPos val="l"/>
        <c:majorGridlines>
          <c:spPr>
            <a:ln w="6350" cap="flat">
              <a:solidFill>
                <a:srgbClr val="DCEBE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Average rating</c:v>
                </c:pt>
              </c:strCache>
            </c:strRef>
          </c:tx>
          <c:spPr>
            <a:solidFill>
              <a:srgbClr val="0F8B8D"/>
            </a:solidFill>
            <a:effectLst/>
          </c:spPr>
          <c:invertIfNegative val="0"/>
          <c:dLbls>
            <c:numFmt formatCode="0.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cat>
            <c:multiLvlStrRef>
              <c:f>Sheet1!$A$2:$A$21</c:f>
              <c:multiLvlStrCache>
                <c:ptCount val="20"/>
                <c:lvl>
                  <c:pt idx="0">
                    <c:v>HF005</c:v>
                  </c:pt>
                  <c:pt idx="1">
                    <c:v>HF011</c:v>
                  </c:pt>
                  <c:pt idx="2">
                    <c:v>HF009</c:v>
                  </c:pt>
                  <c:pt idx="3">
                    <c:v>HF004</c:v>
                  </c:pt>
                  <c:pt idx="4">
                    <c:v>HF017</c:v>
                  </c:pt>
                  <c:pt idx="5">
                    <c:v>HF008</c:v>
                  </c:pt>
                  <c:pt idx="6">
                    <c:v>HF019</c:v>
                  </c:pt>
                  <c:pt idx="7">
                    <c:v>HF003</c:v>
                  </c:pt>
                  <c:pt idx="8">
                    <c:v>HF012</c:v>
                  </c:pt>
                  <c:pt idx="9">
                    <c:v>HF020</c:v>
                  </c:pt>
                  <c:pt idx="10">
                    <c:v>HF016</c:v>
                  </c:pt>
                  <c:pt idx="11">
                    <c:v>HF007</c:v>
                  </c:pt>
                  <c:pt idx="12">
                    <c:v>HF018</c:v>
                  </c:pt>
                  <c:pt idx="13">
                    <c:v>HF001</c:v>
                  </c:pt>
                  <c:pt idx="14">
                    <c:v>HF013</c:v>
                  </c:pt>
                  <c:pt idx="15">
                    <c:v>HF002</c:v>
                  </c:pt>
                  <c:pt idx="16">
                    <c:v>HF010</c:v>
                  </c:pt>
                  <c:pt idx="17">
                    <c:v>HF015</c:v>
                  </c:pt>
                  <c:pt idx="18">
                    <c:v>HF006</c:v>
                  </c:pt>
                  <c:pt idx="19">
                    <c:v>HF014</c:v>
                  </c:pt>
                </c:lvl>
              </c:multiLvlStrCache>
            </c:multiLvlStrRef>
          </c:cat>
          <c:val>
            <c:numRef>
              <c:f>Sheet1!$B$2:$B$21</c:f>
              <c:numCache>
                <c:formatCode>General</c:formatCode>
                <c:ptCount val="20"/>
                <c:pt idx="0">
                  <c:v>3.27</c:v>
                </c:pt>
                <c:pt idx="1">
                  <c:v>3.16</c:v>
                </c:pt>
                <c:pt idx="2">
                  <c:v>3.12</c:v>
                </c:pt>
                <c:pt idx="3">
                  <c:v>3.08</c:v>
                </c:pt>
                <c:pt idx="4">
                  <c:v>3.02</c:v>
                </c:pt>
                <c:pt idx="5">
                  <c:v>2.99</c:v>
                </c:pt>
                <c:pt idx="6">
                  <c:v>2.96</c:v>
                </c:pt>
                <c:pt idx="7">
                  <c:v>2.92</c:v>
                </c:pt>
                <c:pt idx="8">
                  <c:v>2.91</c:v>
                </c:pt>
                <c:pt idx="9">
                  <c:v>2.91</c:v>
                </c:pt>
                <c:pt idx="10">
                  <c:v>2.9</c:v>
                </c:pt>
                <c:pt idx="11">
                  <c:v>2.89</c:v>
                </c:pt>
                <c:pt idx="12">
                  <c:v>2.88</c:v>
                </c:pt>
                <c:pt idx="13">
                  <c:v>2.87</c:v>
                </c:pt>
                <c:pt idx="14">
                  <c:v>2.86</c:v>
                </c:pt>
                <c:pt idx="15">
                  <c:v>2.83</c:v>
                </c:pt>
                <c:pt idx="16">
                  <c:v>2.81</c:v>
                </c:pt>
                <c:pt idx="17">
                  <c:v>2.77</c:v>
                </c:pt>
                <c:pt idx="18">
                  <c:v>2.73</c:v>
                </c:pt>
                <c:pt idx="19">
                  <c:v>2.64</c:v>
                </c:pt>
              </c:numCache>
            </c:numRef>
          </c:val>
        </c:ser>
        <c:dLbls>
          <c:numFmt formatCode="0.0" sourceLinked="0"/>
          <c:txPr>
            <a:bodyPr/>
            <a:lstStyle/>
            <a:p>
              <a:pPr>
                <a:defRPr b="0" i="0" strike="noStrike" sz="1100" u="none">
                  <a:solidFill>
                    <a:srgbClr val="0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DCEBE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F6A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I am Olabisi Amusan. This presentation covers my Week 6 analysis of HealthConnect Rwanda: what the data says about patients, operations, money and patient experience, and what I recommend.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team wants one view of who is being served, where demand is, whether money is being collected and whether patients are satisfied. The data covers twenty thousand patients, five thousand appointments, twenty facilities and sixty thousand bills. I used PostgreSQL, SQL and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the database first, with keys between tables, so every number can be traced back to the source. Then I wrote forty SQL queries, and finally built a six-page Power BI dashboard on top of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reading the rest of the deck. Only five thousand appointments exist, but there are sixty thousand bills and diagnoses. Fifty-five thousand bills and diagnoses, and over nineteen thousand feedback records, have no matching appointment. That means about ninety-two percent of the money collected cannot be assigned to a facility. The staff file also disagrees with itself about which facility each person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year the network billed nine point three one billion Rwandan francs and collected eight point three nine billion. That is a collection rate of ninety point one two percent, leaving about nine hundred and twenty million outstanding. The average bill is about one hundred and fifty-five thousand francs.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aged sixty-five and over are the largest group, at twenty-eight and a half percent of patients. Nearly three in four patients have a recorded chronic condition, split almost evenly between asthma, hypertension and diabetes. Gender and province are evenly balanced, so services for older and chronic-care patients are the clearest planning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appointments stay between four hundred and four hundred and forty, peaking in March and lowest in May. The forecast is essentially flat, so staffing plans should not assume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only five diagnoses in the data, and each makes up about a fifth of cases. Severity splits almost exactly into thirds. A Key Influencers analysis found no strong driver of severe cases, so I do not claim that any disease is growing or that any department drives severity.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Forty-two thousand claims worth four point eight eight billion francs were filed with four providers. The providers are within two percent of each other, so no insurer clearly dominates. Half of all claims are still pending, and almost eighteen thousand bills have no claim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Beds, rooms and equipment are the same at every facility. Appointment volumes range from two hundred and twenty-five to two hundred and ninety. The staff data is the problem. Each person has both a facility and a department, and the two disagree for most of them. Counted one way every facility has seventeen or eighteen doctors; counted the other way, fifteen facilities have twenty and five have ten. So I cannot confirm any staffing imbalance until the records are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satisfaction is two point nine nine out of five. Forty percent of ratings are a one or a two, and under twenty percent are a five. Facility averages sit in a narrow band, from two point six four to three point two seven, and each is based on fewer than one hundred and five linked responses, so the gaps between facilities are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actions. The first two are about fixing the records, because they make every other question answerable. The next three recover money and improve the patient experience. The last asks for the missing data so next time admissions, laboratory use and referrals can be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network looks evenly resourced and demand is stable. The weak points are records that do not link, staff data that conflicts, and unpaid or unclaimed revenue. Fix the records first, and every other question becomes answerable.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698480" cy="173736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731520" y="4114800"/>
            <a:ext cx="10698480" cy="1188720"/>
          </a:xfrm>
          <a:prstGeom prst="rect">
            <a:avLst/>
          </a:prstGeom>
          <a:noFill/>
          <a:ln/>
        </p:spPr>
        <p:txBody>
          <a:bodyPr wrap="square" rtlCol="0"/>
          <a:lstStyle>
            <a:lvl1pPr indent="0" marL="0">
              <a:buNone/>
              <a:defRPr lang="en-US" sz="2000" dirty="0">
                <a:solidFill>
                  <a:srgbClr val="8FD0C8"/>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3400" b="1" dirty="0">
                <a:solidFill>
                  <a:srgbClr val="0B3C49"/>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3F6A70"/>
                </a:solidFill>
              </a:rPr>
              <a:t>HealthConnect Rwanda | Olabisi Amusan</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1097280"/>
            <a:ext cx="731520" cy="731520"/>
          </a:xfrm>
          <a:prstGeom prst="roundRect">
            <a:avLst>
              <a:gd name="adj" fmla="val 20000"/>
            </a:avLst>
          </a:prstGeom>
          <a:solidFill>
            <a:schemeClr val="accent3"/>
          </a:solidFill>
          <a:ln w="12700">
            <a:solidFill>
              <a:schemeClr val="accent3"/>
            </a:solidFill>
            <a:prstDash val="solid"/>
          </a:ln>
        </p:spPr>
      </p:sp>
      <p:sp>
        <p:nvSpPr>
          <p:cNvPr id="3" name="Shape 1"/>
          <p:cNvSpPr/>
          <p:nvPr/>
        </p:nvSpPr>
        <p:spPr>
          <a:xfrm>
            <a:off x="1024128" y="1243584"/>
            <a:ext cx="146304" cy="438912"/>
          </a:xfrm>
          <a:prstGeom prst="rect">
            <a:avLst/>
          </a:prstGeom>
          <a:solidFill>
            <a:schemeClr val="bg1"/>
          </a:solidFill>
          <a:ln w="12700">
            <a:solidFill>
              <a:schemeClr val="bg1"/>
            </a:solidFill>
            <a:prstDash val="solid"/>
          </a:ln>
        </p:spPr>
      </p:sp>
      <p:sp>
        <p:nvSpPr>
          <p:cNvPr id="4" name="Shape 2"/>
          <p:cNvSpPr/>
          <p:nvPr/>
        </p:nvSpPr>
        <p:spPr>
          <a:xfrm>
            <a:off x="877824" y="1389888"/>
            <a:ext cx="438912" cy="146304"/>
          </a:xfrm>
          <a:prstGeom prst="rect">
            <a:avLst/>
          </a:prstGeom>
          <a:solidFill>
            <a:schemeClr val="bg1"/>
          </a:solidFill>
          <a:ln w="12700">
            <a:solidFill>
              <a:schemeClr val="bg1"/>
            </a:solidFill>
            <a:prstDash val="solid"/>
          </a:ln>
        </p:spPr>
      </p:sp>
      <p:sp>
        <p:nvSpPr>
          <p:cNvPr id="5" name="Text 0"/>
          <p:cNvSpPr/>
          <p:nvPr>
            <p:ph idx="100" type="title" hasCustomPrompt="1"/>
          </p:nvPr>
        </p:nvSpPr>
        <p:spPr>
          <a:xfrm>
            <a:off x="731520" y="2194560"/>
            <a:ext cx="10698480" cy="1737360"/>
          </a:xfrm>
          <a:prstGeom prst="rect">
            <a:avLst/>
          </a:prstGeom>
          <a:noFill/>
          <a:ln/>
        </p:spPr>
        <p:txBody>
          <a:bodyPr wrap="square" lIns="0" tIns="0" rIns="0" bIns="0" rtlCol="0" anchor="b"/>
          <a:lstStyle/>
          <a:p>
            <a:pPr algn="l" indent="0" marL="0">
              <a:buNone/>
            </a:pPr>
            <a:r>
              <a:rPr lang="en-US" sz="4400" b="1" dirty="0">
                <a:solidFill>
                  <a:srgbClr val="FFFFFF"/>
                </a:solidFill>
              </a:rPr>
              <a:t>HealthConnect Rwanda: Healthcare Operations and Performance Analytics</a:t>
            </a:r>
            <a:endParaRPr lang="en-US" sz="4400" dirty="0"/>
          </a:p>
        </p:txBody>
      </p:sp>
      <p:sp>
        <p:nvSpPr>
          <p:cNvPr id="6" name="Text 0"/>
          <p:cNvSpPr/>
          <p:nvPr>
            <p:ph idx="101" type="body" hasCustomPrompt="1"/>
          </p:nvPr>
        </p:nvSpPr>
        <p:spPr>
          <a:xfrm>
            <a:off x="731520" y="4114800"/>
            <a:ext cx="10698480" cy="1188720"/>
          </a:xfrm>
          <a:prstGeom prst="rect">
            <a:avLst/>
          </a:prstGeom>
          <a:noFill/>
          <a:ln/>
        </p:spPr>
        <p:txBody>
          <a:bodyPr wrap="square" lIns="0" tIns="0" rIns="0" bIns="0" rtlCol="0" anchor="t"/>
          <a:lstStyle/>
          <a:p>
            <a:pPr indent="0" marL="0">
              <a:buNone/>
            </a:pPr>
            <a:r>
              <a:rPr lang="en-US" sz="2000" dirty="0">
                <a:solidFill>
                  <a:srgbClr val="8FD0C8"/>
                </a:solidFill>
              </a:rPr>
              <a:t>AnalystLab Africa Experience Lab | Week 6 | Data Analytics Track</a:t>
            </a:r>
            <a:endParaRPr lang="en-US" sz="2000" dirty="0"/>
          </a:p>
          <a:p>
            <a:pPr indent="0" marL="0">
              <a:buNone/>
            </a:pPr>
            <a:r>
              <a:rPr lang="en-US" sz="2000" dirty="0">
                <a:solidFill>
                  <a:srgbClr val="8FD0C8"/>
                </a:solidFill>
              </a:rPr>
              <a:t>Olabisi Amusan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400" b="1" dirty="0">
                <a:solidFill>
                  <a:srgbClr val="0B3C49"/>
                </a:solidFill>
              </a:rPr>
              <a:t>What the executive team needs to see</a:t>
            </a:r>
            <a:endParaRPr lang="en-US" sz="3400" dirty="0"/>
          </a:p>
        </p:txBody>
      </p:sp>
      <p:sp>
        <p:nvSpPr>
          <p:cNvPr id="4" name="Card registered patients"/>
          <p:cNvSpPr/>
          <p:nvPr/>
        </p:nvSpPr>
        <p:spPr>
          <a:xfrm>
            <a:off x="548640" y="1645920"/>
            <a:ext cx="2651760" cy="1828800"/>
          </a:xfrm>
          <a:prstGeom prst="roundRect">
            <a:avLst>
              <a:gd name="adj" fmla="val 6000"/>
            </a:avLst>
          </a:prstGeom>
          <a:solidFill>
            <a:schemeClr val="bg2"/>
          </a:solidFill>
          <a:ln w="12700">
            <a:solidFill>
              <a:schemeClr val="bg2"/>
            </a:solidFill>
            <a:prstDash val="solid"/>
          </a:ln>
        </p:spPr>
      </p:sp>
      <p:sp>
        <p:nvSpPr>
          <p:cNvPr id="5" name="Text 2"/>
          <p:cNvSpPr txBox="1"/>
          <p:nvPr/>
        </p:nvSpPr>
        <p:spPr>
          <a:xfrm>
            <a:off x="777240" y="1783080"/>
            <a:ext cx="2194560" cy="950976"/>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20,000</a:t>
            </a:r>
            <a:endParaRPr lang="en-US" sz="3800" dirty="0"/>
          </a:p>
        </p:txBody>
      </p:sp>
      <p:sp>
        <p:nvSpPr>
          <p:cNvPr id="6" name="Text 3"/>
          <p:cNvSpPr txBox="1"/>
          <p:nvPr/>
        </p:nvSpPr>
        <p:spPr>
          <a:xfrm>
            <a:off x="777240" y="2779776"/>
            <a:ext cx="2194560" cy="731520"/>
          </a:xfrm>
          <a:prstGeom prst="rect">
            <a:avLst/>
          </a:prstGeom>
          <a:noFill/>
          <a:ln/>
        </p:spPr>
        <p:txBody>
          <a:bodyPr wrap="square" lIns="0" tIns="0" rIns="0" bIns="0" rtlCol="0" anchor="t"/>
          <a:lstStyle/>
          <a:p>
            <a:pPr indent="0" marL="0">
              <a:buNone/>
            </a:pPr>
            <a:r>
              <a:rPr lang="en-US" sz="1400" dirty="0">
                <a:solidFill>
                  <a:schemeClr val="tx1"/>
                </a:solidFill>
              </a:rPr>
              <a:t>registered patients</a:t>
            </a:r>
            <a:endParaRPr lang="en-US" sz="1400" dirty="0"/>
          </a:p>
        </p:txBody>
      </p:sp>
      <p:sp>
        <p:nvSpPr>
          <p:cNvPr id="7" name="Card appointments in 2026"/>
          <p:cNvSpPr/>
          <p:nvPr/>
        </p:nvSpPr>
        <p:spPr>
          <a:xfrm>
            <a:off x="3383280" y="1645920"/>
            <a:ext cx="2651760" cy="1828800"/>
          </a:xfrm>
          <a:prstGeom prst="roundRect">
            <a:avLst>
              <a:gd name="adj" fmla="val 6000"/>
            </a:avLst>
          </a:prstGeom>
          <a:solidFill>
            <a:schemeClr val="bg2"/>
          </a:solidFill>
          <a:ln w="12700">
            <a:solidFill>
              <a:schemeClr val="bg2"/>
            </a:solidFill>
            <a:prstDash val="solid"/>
          </a:ln>
        </p:spPr>
      </p:sp>
      <p:sp>
        <p:nvSpPr>
          <p:cNvPr id="8" name="Text 5"/>
          <p:cNvSpPr txBox="1"/>
          <p:nvPr/>
        </p:nvSpPr>
        <p:spPr>
          <a:xfrm>
            <a:off x="3611880" y="1783080"/>
            <a:ext cx="2194560" cy="950976"/>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5,000</a:t>
            </a:r>
            <a:endParaRPr lang="en-US" sz="3800" dirty="0"/>
          </a:p>
        </p:txBody>
      </p:sp>
      <p:sp>
        <p:nvSpPr>
          <p:cNvPr id="9" name="Text 6"/>
          <p:cNvSpPr txBox="1"/>
          <p:nvPr/>
        </p:nvSpPr>
        <p:spPr>
          <a:xfrm>
            <a:off x="3611880" y="2779776"/>
            <a:ext cx="2194560" cy="731520"/>
          </a:xfrm>
          <a:prstGeom prst="rect">
            <a:avLst/>
          </a:prstGeom>
          <a:noFill/>
          <a:ln/>
        </p:spPr>
        <p:txBody>
          <a:bodyPr wrap="square" lIns="0" tIns="0" rIns="0" bIns="0" rtlCol="0" anchor="t"/>
          <a:lstStyle/>
          <a:p>
            <a:pPr indent="0" marL="0">
              <a:buNone/>
            </a:pPr>
            <a:r>
              <a:rPr lang="en-US" sz="1400" dirty="0">
                <a:solidFill>
                  <a:schemeClr val="tx1"/>
                </a:solidFill>
              </a:rPr>
              <a:t>appointments in 2026</a:t>
            </a:r>
            <a:endParaRPr lang="en-US" sz="1400" dirty="0"/>
          </a:p>
        </p:txBody>
      </p:sp>
      <p:sp>
        <p:nvSpPr>
          <p:cNvPr id="10" name="Card facilities"/>
          <p:cNvSpPr/>
          <p:nvPr/>
        </p:nvSpPr>
        <p:spPr>
          <a:xfrm>
            <a:off x="6217920" y="1645920"/>
            <a:ext cx="2651760" cy="1828800"/>
          </a:xfrm>
          <a:prstGeom prst="roundRect">
            <a:avLst>
              <a:gd name="adj" fmla="val 6000"/>
            </a:avLst>
          </a:prstGeom>
          <a:solidFill>
            <a:schemeClr val="bg2"/>
          </a:solidFill>
          <a:ln w="12700">
            <a:solidFill>
              <a:schemeClr val="bg2"/>
            </a:solidFill>
            <a:prstDash val="solid"/>
          </a:ln>
        </p:spPr>
      </p:sp>
      <p:sp>
        <p:nvSpPr>
          <p:cNvPr id="11" name="Text 8"/>
          <p:cNvSpPr txBox="1"/>
          <p:nvPr/>
        </p:nvSpPr>
        <p:spPr>
          <a:xfrm>
            <a:off x="6446520" y="1783080"/>
            <a:ext cx="2194560" cy="950976"/>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20</a:t>
            </a:r>
            <a:endParaRPr lang="en-US" sz="3800" dirty="0"/>
          </a:p>
        </p:txBody>
      </p:sp>
      <p:sp>
        <p:nvSpPr>
          <p:cNvPr id="12" name="Text 9"/>
          <p:cNvSpPr txBox="1"/>
          <p:nvPr/>
        </p:nvSpPr>
        <p:spPr>
          <a:xfrm>
            <a:off x="6446520" y="2779776"/>
            <a:ext cx="2194560" cy="731520"/>
          </a:xfrm>
          <a:prstGeom prst="rect">
            <a:avLst/>
          </a:prstGeom>
          <a:noFill/>
          <a:ln/>
        </p:spPr>
        <p:txBody>
          <a:bodyPr wrap="square" lIns="0" tIns="0" rIns="0" bIns="0" rtlCol="0" anchor="t"/>
          <a:lstStyle/>
          <a:p>
            <a:pPr indent="0" marL="0">
              <a:buNone/>
            </a:pPr>
            <a:r>
              <a:rPr lang="en-US" sz="1400" dirty="0">
                <a:solidFill>
                  <a:schemeClr val="tx1"/>
                </a:solidFill>
              </a:rPr>
              <a:t>facilities</a:t>
            </a:r>
            <a:endParaRPr lang="en-US" sz="1400" dirty="0"/>
          </a:p>
        </p:txBody>
      </p:sp>
      <p:sp>
        <p:nvSpPr>
          <p:cNvPr id="13" name="Card bills and payments"/>
          <p:cNvSpPr/>
          <p:nvPr/>
        </p:nvSpPr>
        <p:spPr>
          <a:xfrm>
            <a:off x="9052560" y="1645920"/>
            <a:ext cx="2651760" cy="1828800"/>
          </a:xfrm>
          <a:prstGeom prst="roundRect">
            <a:avLst>
              <a:gd name="adj" fmla="val 6000"/>
            </a:avLst>
          </a:prstGeom>
          <a:solidFill>
            <a:schemeClr val="bg2"/>
          </a:solidFill>
          <a:ln w="12700">
            <a:solidFill>
              <a:schemeClr val="bg2"/>
            </a:solidFill>
            <a:prstDash val="solid"/>
          </a:ln>
        </p:spPr>
      </p:sp>
      <p:sp>
        <p:nvSpPr>
          <p:cNvPr id="14" name="Text 11"/>
          <p:cNvSpPr txBox="1"/>
          <p:nvPr/>
        </p:nvSpPr>
        <p:spPr>
          <a:xfrm>
            <a:off x="9281160" y="1783080"/>
            <a:ext cx="2194560" cy="950976"/>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60,000</a:t>
            </a:r>
            <a:endParaRPr lang="en-US" sz="3800" dirty="0"/>
          </a:p>
        </p:txBody>
      </p:sp>
      <p:sp>
        <p:nvSpPr>
          <p:cNvPr id="15" name="Text 12"/>
          <p:cNvSpPr txBox="1"/>
          <p:nvPr/>
        </p:nvSpPr>
        <p:spPr>
          <a:xfrm>
            <a:off x="9281160" y="2779776"/>
            <a:ext cx="2194560" cy="731520"/>
          </a:xfrm>
          <a:prstGeom prst="rect">
            <a:avLst/>
          </a:prstGeom>
          <a:noFill/>
          <a:ln/>
        </p:spPr>
        <p:txBody>
          <a:bodyPr wrap="square" lIns="0" tIns="0" rIns="0" bIns="0" rtlCol="0" anchor="t"/>
          <a:lstStyle/>
          <a:p>
            <a:pPr indent="0" marL="0">
              <a:buNone/>
            </a:pPr>
            <a:r>
              <a:rPr lang="en-US" sz="1400" dirty="0">
                <a:solidFill>
                  <a:schemeClr val="tx1"/>
                </a:solidFill>
              </a:rPr>
              <a:t>bills and payments</a:t>
            </a:r>
            <a:endParaRPr lang="en-US" sz="1400" dirty="0"/>
          </a:p>
        </p:txBody>
      </p:sp>
      <p:sp>
        <p:nvSpPr>
          <p:cNvPr id="16" name="Text 13"/>
          <p:cNvSpPr txBox="1"/>
          <p:nvPr/>
        </p:nvSpPr>
        <p:spPr>
          <a:xfrm>
            <a:off x="548640" y="3931920"/>
            <a:ext cx="10972800" cy="411480"/>
          </a:xfrm>
          <a:prstGeom prst="rect">
            <a:avLst/>
          </a:prstGeom>
          <a:noFill/>
          <a:ln/>
        </p:spPr>
        <p:txBody>
          <a:bodyPr wrap="square" lIns="0" tIns="0" rIns="0" bIns="0" rtlCol="0" anchor="ctr"/>
          <a:lstStyle/>
          <a:p>
            <a:pPr indent="0" marL="0">
              <a:buNone/>
            </a:pPr>
            <a:r>
              <a:rPr lang="en-US" sz="2000" b="1" dirty="0">
                <a:solidFill>
                  <a:schemeClr val="accent6"/>
                </a:solidFill>
              </a:rPr>
              <a:t>The questions I set out to answer</a:t>
            </a:r>
            <a:endParaRPr lang="en-US" sz="2000" dirty="0"/>
          </a:p>
        </p:txBody>
      </p:sp>
      <p:sp>
        <p:nvSpPr>
          <p:cNvPr id="17" name="Text 14"/>
          <p:cNvSpPr txBox="1"/>
          <p:nvPr/>
        </p:nvSpPr>
        <p:spPr>
          <a:xfrm>
            <a:off x="548640" y="4434840"/>
            <a:ext cx="10972800" cy="1737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Who do we serve, and where is demand?</a:t>
            </a:r>
            <a:endParaRPr lang="en-US" sz="1600" dirty="0"/>
          </a:p>
          <a:p>
            <a:pPr marL="342900" indent="-342900">
              <a:spcAft>
                <a:spcPts val="600"/>
              </a:spcAft>
              <a:buSzPct val="100000"/>
              <a:buChar char="•"/>
            </a:pPr>
            <a:r>
              <a:rPr lang="en-US" sz="1600" dirty="0">
                <a:solidFill>
                  <a:schemeClr val="tx1"/>
                </a:solidFill>
              </a:rPr>
              <a:t>Are staff and resources distributed well?</a:t>
            </a:r>
            <a:endParaRPr lang="en-US" sz="1600" dirty="0"/>
          </a:p>
          <a:p>
            <a:pPr marL="342900" indent="-342900">
              <a:spcAft>
                <a:spcPts val="600"/>
              </a:spcAft>
              <a:buSzPct val="100000"/>
              <a:buChar char="•"/>
            </a:pPr>
            <a:r>
              <a:rPr lang="en-US" sz="1600" dirty="0">
                <a:solidFill>
                  <a:schemeClr val="tx1"/>
                </a:solidFill>
              </a:rPr>
              <a:t>Is revenue being collected, and from whom?</a:t>
            </a:r>
            <a:endParaRPr lang="en-US" sz="1600" dirty="0"/>
          </a:p>
          <a:p>
            <a:pPr marL="342900" indent="-342900">
              <a:spcAft>
                <a:spcPts val="600"/>
              </a:spcAft>
              <a:buSzPct val="100000"/>
              <a:buChar char="•"/>
            </a:pPr>
            <a:r>
              <a:rPr lang="en-US" sz="1600" dirty="0">
                <a:solidFill>
                  <a:schemeClr val="tx1"/>
                </a:solidFill>
              </a:rPr>
              <a:t>How satisfied are patients?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400" b="1" dirty="0">
                <a:solidFill>
                  <a:srgbClr val="0B3C49"/>
                </a:solidFill>
              </a:rPr>
              <a:t>How I approached it</a:t>
            </a:r>
            <a:endParaRPr lang="en-US" sz="3400" dirty="0"/>
          </a:p>
        </p:txBody>
      </p:sp>
      <p:sp>
        <p:nvSpPr>
          <p:cNvPr id="4" name="Shape 1"/>
          <p:cNvSpPr/>
          <p:nvPr/>
        </p:nvSpPr>
        <p:spPr>
          <a:xfrm>
            <a:off x="548640" y="1737360"/>
            <a:ext cx="3566160" cy="3291840"/>
          </a:xfrm>
          <a:prstGeom prst="roundRect">
            <a:avLst>
              <a:gd name="adj" fmla="val 3333"/>
            </a:avLst>
          </a:prstGeom>
          <a:solidFill>
            <a:schemeClr val="bg2"/>
          </a:solidFill>
          <a:ln w="12700">
            <a:solidFill>
              <a:schemeClr val="bg2"/>
            </a:solidFill>
            <a:prstDash val="solid"/>
          </a:ln>
        </p:spPr>
      </p:sp>
      <p:sp>
        <p:nvSpPr>
          <p:cNvPr id="5" name="Shape 2"/>
          <p:cNvSpPr/>
          <p:nvPr/>
        </p:nvSpPr>
        <p:spPr>
          <a:xfrm>
            <a:off x="822960" y="2011680"/>
            <a:ext cx="502920" cy="502920"/>
          </a:xfrm>
          <a:prstGeom prst="ellipse">
            <a:avLst/>
          </a:prstGeom>
          <a:solidFill>
            <a:schemeClr val="accent1"/>
          </a:solidFill>
          <a:ln w="12700">
            <a:solidFill>
              <a:schemeClr val="accent1"/>
            </a:solidFill>
            <a:prstDash val="solid"/>
          </a:ln>
        </p:spPr>
      </p:sp>
      <p:sp>
        <p:nvSpPr>
          <p:cNvPr id="6" name="Text 3"/>
          <p:cNvSpPr txBox="1"/>
          <p:nvPr/>
        </p:nvSpPr>
        <p:spPr>
          <a:xfrm>
            <a:off x="822960" y="20116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822960" y="2743200"/>
            <a:ext cx="3017520" cy="457200"/>
          </a:xfrm>
          <a:prstGeom prst="rect">
            <a:avLst/>
          </a:prstGeom>
          <a:noFill/>
          <a:ln/>
        </p:spPr>
        <p:txBody>
          <a:bodyPr wrap="square" lIns="0" tIns="0" rIns="0" bIns="0" rtlCol="0" anchor="ctr"/>
          <a:lstStyle/>
          <a:p>
            <a:pPr indent="0" marL="0">
              <a:buNone/>
            </a:pPr>
            <a:r>
              <a:rPr lang="en-US" sz="2400" b="1" dirty="0">
                <a:solidFill>
                  <a:schemeClr val="accent6"/>
                </a:solidFill>
                <a:latin typeface="Cambria" pitchFamily="34" charset="0"/>
                <a:ea typeface="Cambria" pitchFamily="34" charset="-122"/>
                <a:cs typeface="Cambria" pitchFamily="34" charset="-120"/>
              </a:rPr>
              <a:t>Database</a:t>
            </a:r>
            <a:endParaRPr lang="en-US" sz="2400" dirty="0"/>
          </a:p>
        </p:txBody>
      </p:sp>
      <p:sp>
        <p:nvSpPr>
          <p:cNvPr id="8" name="Text 5"/>
          <p:cNvSpPr txBox="1"/>
          <p:nvPr/>
        </p:nvSpPr>
        <p:spPr>
          <a:xfrm>
            <a:off x="822960" y="3291840"/>
            <a:ext cx="3017520" cy="1645920"/>
          </a:xfrm>
          <a:prstGeom prst="rect">
            <a:avLst/>
          </a:prstGeom>
          <a:noFill/>
          <a:ln/>
        </p:spPr>
        <p:txBody>
          <a:bodyPr wrap="square" lIns="0" tIns="0" rIns="0" bIns="0" rtlCol="0" anchor="t"/>
          <a:lstStyle/>
          <a:p>
            <a:pPr indent="0" marL="0">
              <a:buNone/>
            </a:pPr>
            <a:r>
              <a:rPr lang="en-US" sz="1600" dirty="0">
                <a:solidFill>
                  <a:schemeClr val="tx1"/>
                </a:solidFill>
              </a:rPr>
              <a:t>PostgreSQL schema with primary and foreign keys. Six staff files combined into one table. Data validated before analysis.</a:t>
            </a:r>
            <a:endParaRPr lang="en-US" sz="1600" dirty="0"/>
          </a:p>
        </p:txBody>
      </p:sp>
      <p:sp>
        <p:nvSpPr>
          <p:cNvPr id="9" name="Shape 6"/>
          <p:cNvSpPr/>
          <p:nvPr/>
        </p:nvSpPr>
        <p:spPr>
          <a:xfrm>
            <a:off x="4343400" y="1737360"/>
            <a:ext cx="3566160" cy="3291840"/>
          </a:xfrm>
          <a:prstGeom prst="roundRect">
            <a:avLst>
              <a:gd name="adj" fmla="val 3333"/>
            </a:avLst>
          </a:prstGeom>
          <a:solidFill>
            <a:schemeClr val="bg2"/>
          </a:solidFill>
          <a:ln w="12700">
            <a:solidFill>
              <a:schemeClr val="bg2"/>
            </a:solidFill>
            <a:prstDash val="solid"/>
          </a:ln>
        </p:spPr>
      </p:sp>
      <p:sp>
        <p:nvSpPr>
          <p:cNvPr id="10" name="Shape 7"/>
          <p:cNvSpPr/>
          <p:nvPr/>
        </p:nvSpPr>
        <p:spPr>
          <a:xfrm>
            <a:off x="4617720" y="2011680"/>
            <a:ext cx="502920" cy="502920"/>
          </a:xfrm>
          <a:prstGeom prst="ellipse">
            <a:avLst/>
          </a:prstGeom>
          <a:solidFill>
            <a:schemeClr val="accent1"/>
          </a:solidFill>
          <a:ln w="12700">
            <a:solidFill>
              <a:schemeClr val="accent1"/>
            </a:solidFill>
            <a:prstDash val="solid"/>
          </a:ln>
        </p:spPr>
      </p:sp>
      <p:sp>
        <p:nvSpPr>
          <p:cNvPr id="11" name="Text 8"/>
          <p:cNvSpPr txBox="1"/>
          <p:nvPr/>
        </p:nvSpPr>
        <p:spPr>
          <a:xfrm>
            <a:off x="4617720" y="20116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4617720" y="2743200"/>
            <a:ext cx="3017520" cy="457200"/>
          </a:xfrm>
          <a:prstGeom prst="rect">
            <a:avLst/>
          </a:prstGeom>
          <a:noFill/>
          <a:ln/>
        </p:spPr>
        <p:txBody>
          <a:bodyPr wrap="square" lIns="0" tIns="0" rIns="0" bIns="0" rtlCol="0" anchor="ctr"/>
          <a:lstStyle/>
          <a:p>
            <a:pPr indent="0" marL="0">
              <a:buNone/>
            </a:pPr>
            <a:r>
              <a:rPr lang="en-US" sz="2400" b="1" dirty="0">
                <a:solidFill>
                  <a:schemeClr val="accent6"/>
                </a:solidFill>
                <a:latin typeface="Cambria" pitchFamily="34" charset="0"/>
                <a:ea typeface="Cambria" pitchFamily="34" charset="-122"/>
                <a:cs typeface="Cambria" pitchFamily="34" charset="-120"/>
              </a:rPr>
              <a:t>Analysis</a:t>
            </a:r>
            <a:endParaRPr lang="en-US" sz="2400" dirty="0"/>
          </a:p>
        </p:txBody>
      </p:sp>
      <p:sp>
        <p:nvSpPr>
          <p:cNvPr id="13" name="Text 10"/>
          <p:cNvSpPr txBox="1"/>
          <p:nvPr/>
        </p:nvSpPr>
        <p:spPr>
          <a:xfrm>
            <a:off x="4617720" y="3291840"/>
            <a:ext cx="3017520" cy="1645920"/>
          </a:xfrm>
          <a:prstGeom prst="rect">
            <a:avLst/>
          </a:prstGeom>
          <a:noFill/>
          <a:ln/>
        </p:spPr>
        <p:txBody>
          <a:bodyPr wrap="square" lIns="0" tIns="0" rIns="0" bIns="0" rtlCol="0" anchor="t"/>
          <a:lstStyle/>
          <a:p>
            <a:pPr indent="0" marL="0">
              <a:buNone/>
            </a:pPr>
            <a:r>
              <a:rPr lang="en-US" sz="1600" dirty="0">
                <a:solidFill>
                  <a:schemeClr val="tx1"/>
                </a:solidFill>
              </a:rPr>
              <a:t>40 SQL queries across patients, appointments, clinical activity and finance, using views to join records.</a:t>
            </a:r>
            <a:endParaRPr lang="en-US" sz="1600" dirty="0"/>
          </a:p>
        </p:txBody>
      </p:sp>
      <p:sp>
        <p:nvSpPr>
          <p:cNvPr id="14" name="Shape 11"/>
          <p:cNvSpPr/>
          <p:nvPr/>
        </p:nvSpPr>
        <p:spPr>
          <a:xfrm>
            <a:off x="8138160" y="1737360"/>
            <a:ext cx="3566160" cy="3291840"/>
          </a:xfrm>
          <a:prstGeom prst="roundRect">
            <a:avLst>
              <a:gd name="adj" fmla="val 3333"/>
            </a:avLst>
          </a:prstGeom>
          <a:solidFill>
            <a:schemeClr val="bg2"/>
          </a:solidFill>
          <a:ln w="12700">
            <a:solidFill>
              <a:schemeClr val="bg2"/>
            </a:solidFill>
            <a:prstDash val="solid"/>
          </a:ln>
        </p:spPr>
      </p:sp>
      <p:sp>
        <p:nvSpPr>
          <p:cNvPr id="15" name="Shape 12"/>
          <p:cNvSpPr/>
          <p:nvPr/>
        </p:nvSpPr>
        <p:spPr>
          <a:xfrm>
            <a:off x="8412480" y="2011680"/>
            <a:ext cx="502920" cy="502920"/>
          </a:xfrm>
          <a:prstGeom prst="ellipse">
            <a:avLst/>
          </a:prstGeom>
          <a:solidFill>
            <a:schemeClr val="accent1"/>
          </a:solidFill>
          <a:ln w="12700">
            <a:solidFill>
              <a:schemeClr val="accent1"/>
            </a:solidFill>
            <a:prstDash val="solid"/>
          </a:ln>
        </p:spPr>
      </p:sp>
      <p:sp>
        <p:nvSpPr>
          <p:cNvPr id="16" name="Text 13"/>
          <p:cNvSpPr txBox="1"/>
          <p:nvPr/>
        </p:nvSpPr>
        <p:spPr>
          <a:xfrm>
            <a:off x="8412480" y="20116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8412480" y="2743200"/>
            <a:ext cx="3017520" cy="457200"/>
          </a:xfrm>
          <a:prstGeom prst="rect">
            <a:avLst/>
          </a:prstGeom>
          <a:noFill/>
          <a:ln/>
        </p:spPr>
        <p:txBody>
          <a:bodyPr wrap="square" lIns="0" tIns="0" rIns="0" bIns="0" rtlCol="0" anchor="ctr"/>
          <a:lstStyle/>
          <a:p>
            <a:pPr indent="0" marL="0">
              <a:buNone/>
            </a:pPr>
            <a:r>
              <a:rPr lang="en-US" sz="2400" b="1" dirty="0">
                <a:solidFill>
                  <a:schemeClr val="accent6"/>
                </a:solidFill>
                <a:latin typeface="Cambria" pitchFamily="34" charset="0"/>
                <a:ea typeface="Cambria" pitchFamily="34" charset="-122"/>
                <a:cs typeface="Cambria" pitchFamily="34" charset="-120"/>
              </a:rPr>
              <a:t>Dashboard</a:t>
            </a:r>
            <a:endParaRPr lang="en-US" sz="2400" dirty="0"/>
          </a:p>
        </p:txBody>
      </p:sp>
      <p:sp>
        <p:nvSpPr>
          <p:cNvPr id="18" name="Text 15"/>
          <p:cNvSpPr txBox="1"/>
          <p:nvPr/>
        </p:nvSpPr>
        <p:spPr>
          <a:xfrm>
            <a:off x="8412480" y="3291840"/>
            <a:ext cx="3017520" cy="1645920"/>
          </a:xfrm>
          <a:prstGeom prst="rect">
            <a:avLst/>
          </a:prstGeom>
          <a:noFill/>
          <a:ln/>
        </p:spPr>
        <p:txBody>
          <a:bodyPr wrap="square" lIns="0" tIns="0" rIns="0" bIns="0" rtlCol="0" anchor="t"/>
          <a:lstStyle/>
          <a:p>
            <a:pPr indent="0" marL="0">
              <a:buNone/>
            </a:pPr>
            <a:r>
              <a:rPr lang="en-US" sz="1600" dirty="0">
                <a:solidFill>
                  <a:schemeClr val="tx1"/>
                </a:solidFill>
              </a:rPr>
              <a:t>Six Power BI pages with DAX measures, a date table, drill-through, tooltips, a decomposition tree and forecasting.</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400" b="1" dirty="0">
                <a:solidFill>
                  <a:srgbClr val="0B3C49"/>
                </a:solidFill>
              </a:rPr>
              <a:t>Data gaps limit what can be proven</a:t>
            </a:r>
            <a:endParaRPr lang="en-US" sz="3400" dirty="0"/>
          </a:p>
        </p:txBody>
      </p:sp>
      <p:graphicFrame>
        <p:nvGraphicFramePr>
          <p:cNvPr id="4" name="Chart 0" descr=""/>
          <p:cNvGraphicFramePr/>
          <p:nvPr/>
        </p:nvGraphicFramePr>
        <p:xfrm>
          <a:off x="548640" y="146304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760720"/>
            <a:ext cx="6035040" cy="457200"/>
          </a:xfrm>
          <a:prstGeom prst="rect">
            <a:avLst/>
          </a:prstGeom>
          <a:noFill/>
          <a:ln/>
        </p:spPr>
        <p:txBody>
          <a:bodyPr wrap="square" lIns="0" tIns="0" rIns="0" bIns="0" rtlCol="0" anchor="t"/>
          <a:lstStyle/>
          <a:p>
            <a:pPr indent="0" marL="0">
              <a:buNone/>
            </a:pPr>
            <a:r>
              <a:rPr lang="en-US" sz="1100" i="1" dirty="0">
                <a:solidFill>
                  <a:schemeClr val="accent5"/>
                </a:solidFill>
              </a:rPr>
              <a:t>Records with no matching appointment</a:t>
            </a:r>
            <a:endParaRPr lang="en-US" sz="1100" dirty="0"/>
          </a:p>
        </p:txBody>
      </p:sp>
      <p:sp>
        <p:nvSpPr>
          <p:cNvPr id="6" name="Shape 2"/>
          <p:cNvSpPr/>
          <p:nvPr/>
        </p:nvSpPr>
        <p:spPr>
          <a:xfrm>
            <a:off x="7040880" y="1463040"/>
            <a:ext cx="4572000" cy="1280160"/>
          </a:xfrm>
          <a:prstGeom prst="roundRect">
            <a:avLst>
              <a:gd name="adj" fmla="val 8571"/>
            </a:avLst>
          </a:prstGeom>
          <a:solidFill>
            <a:schemeClr val="bg2"/>
          </a:solidFill>
          <a:ln w="12700">
            <a:solidFill>
              <a:schemeClr val="bg2"/>
            </a:solidFill>
            <a:prstDash val="solid"/>
          </a:ln>
        </p:spPr>
      </p:sp>
      <p:sp>
        <p:nvSpPr>
          <p:cNvPr id="7" name="Text 3"/>
          <p:cNvSpPr txBox="1"/>
          <p:nvPr/>
        </p:nvSpPr>
        <p:spPr>
          <a:xfrm>
            <a:off x="7269480" y="1554480"/>
            <a:ext cx="4114800" cy="54864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92%</a:t>
            </a:r>
            <a:endParaRPr lang="en-US" sz="2800" dirty="0"/>
          </a:p>
        </p:txBody>
      </p:sp>
      <p:sp>
        <p:nvSpPr>
          <p:cNvPr id="8" name="Text 4"/>
          <p:cNvSpPr txBox="1"/>
          <p:nvPr/>
        </p:nvSpPr>
        <p:spPr>
          <a:xfrm>
            <a:off x="7269480" y="2121408"/>
            <a:ext cx="4114800" cy="548640"/>
          </a:xfrm>
          <a:prstGeom prst="rect">
            <a:avLst/>
          </a:prstGeom>
          <a:noFill/>
          <a:ln/>
        </p:spPr>
        <p:txBody>
          <a:bodyPr wrap="square" lIns="0" tIns="0" rIns="0" bIns="0" rtlCol="0" anchor="t"/>
          <a:lstStyle/>
          <a:p>
            <a:pPr indent="0" marL="0">
              <a:buNone/>
            </a:pPr>
            <a:r>
              <a:rPr lang="en-US" sz="1400" dirty="0">
                <a:solidFill>
                  <a:schemeClr val="tx1"/>
                </a:solidFill>
              </a:rPr>
              <a:t>of collected revenue (RWF 7.69bn) cannot be assigned to a facility</a:t>
            </a:r>
            <a:endParaRPr lang="en-US" sz="1400" dirty="0"/>
          </a:p>
        </p:txBody>
      </p:sp>
      <p:sp>
        <p:nvSpPr>
          <p:cNvPr id="9" name="Shape 5"/>
          <p:cNvSpPr/>
          <p:nvPr/>
        </p:nvSpPr>
        <p:spPr>
          <a:xfrm>
            <a:off x="7040880" y="2926080"/>
            <a:ext cx="4572000" cy="1280160"/>
          </a:xfrm>
          <a:prstGeom prst="roundRect">
            <a:avLst>
              <a:gd name="adj" fmla="val 8571"/>
            </a:avLst>
          </a:prstGeom>
          <a:solidFill>
            <a:schemeClr val="bg2"/>
          </a:solidFill>
          <a:ln w="12700">
            <a:solidFill>
              <a:schemeClr val="bg2"/>
            </a:solidFill>
            <a:prstDash val="solid"/>
          </a:ln>
        </p:spPr>
      </p:sp>
      <p:sp>
        <p:nvSpPr>
          <p:cNvPr id="10" name="Text 6"/>
          <p:cNvSpPr txBox="1"/>
          <p:nvPr/>
        </p:nvSpPr>
        <p:spPr>
          <a:xfrm>
            <a:off x="7269480" y="3017520"/>
            <a:ext cx="4114800" cy="54864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1,187 of 1,250</a:t>
            </a:r>
            <a:endParaRPr lang="en-US" sz="2800" dirty="0"/>
          </a:p>
        </p:txBody>
      </p:sp>
      <p:sp>
        <p:nvSpPr>
          <p:cNvPr id="11" name="Text 7"/>
          <p:cNvSpPr txBox="1"/>
          <p:nvPr/>
        </p:nvSpPr>
        <p:spPr>
          <a:xfrm>
            <a:off x="7269480" y="3584448"/>
            <a:ext cx="4114800" cy="548640"/>
          </a:xfrm>
          <a:prstGeom prst="rect">
            <a:avLst/>
          </a:prstGeom>
          <a:noFill/>
          <a:ln/>
        </p:spPr>
        <p:txBody>
          <a:bodyPr wrap="square" lIns="0" tIns="0" rIns="0" bIns="0" rtlCol="0" anchor="t"/>
          <a:lstStyle/>
          <a:p>
            <a:pPr indent="0" marL="0">
              <a:buNone/>
            </a:pPr>
            <a:r>
              <a:rPr lang="en-US" sz="1400" dirty="0">
                <a:solidFill>
                  <a:schemeClr val="tx1"/>
                </a:solidFill>
              </a:rPr>
              <a:t>staff records disagree on which facility the person belongs to</a:t>
            </a:r>
            <a:endParaRPr lang="en-US" sz="1400" dirty="0"/>
          </a:p>
        </p:txBody>
      </p:sp>
      <p:sp>
        <p:nvSpPr>
          <p:cNvPr id="12" name="Shape 8"/>
          <p:cNvSpPr/>
          <p:nvPr/>
        </p:nvSpPr>
        <p:spPr>
          <a:xfrm>
            <a:off x="7040880" y="4389120"/>
            <a:ext cx="4572000" cy="1280160"/>
          </a:xfrm>
          <a:prstGeom prst="roundRect">
            <a:avLst>
              <a:gd name="adj" fmla="val 8571"/>
            </a:avLst>
          </a:prstGeom>
          <a:solidFill>
            <a:schemeClr val="bg2"/>
          </a:solidFill>
          <a:ln w="12700">
            <a:solidFill>
              <a:schemeClr val="bg2"/>
            </a:solidFill>
            <a:prstDash val="solid"/>
          </a:ln>
        </p:spPr>
      </p:sp>
      <p:sp>
        <p:nvSpPr>
          <p:cNvPr id="13" name="Text 9"/>
          <p:cNvSpPr txBox="1"/>
          <p:nvPr/>
        </p:nvSpPr>
        <p:spPr>
          <a:xfrm>
            <a:off x="7269480" y="4480560"/>
            <a:ext cx="4114800" cy="54864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5 tables</a:t>
            </a:r>
            <a:endParaRPr lang="en-US" sz="2800" dirty="0"/>
          </a:p>
        </p:txBody>
      </p:sp>
      <p:sp>
        <p:nvSpPr>
          <p:cNvPr id="14" name="Text 10"/>
          <p:cNvSpPr txBox="1"/>
          <p:nvPr/>
        </p:nvSpPr>
        <p:spPr>
          <a:xfrm>
            <a:off x="7269480" y="5047488"/>
            <a:ext cx="4114800" cy="548640"/>
          </a:xfrm>
          <a:prstGeom prst="rect">
            <a:avLst/>
          </a:prstGeom>
          <a:noFill/>
          <a:ln/>
        </p:spPr>
        <p:txBody>
          <a:bodyPr wrap="square" lIns="0" tIns="0" rIns="0" bIns="0" rtlCol="0" anchor="t"/>
          <a:lstStyle/>
          <a:p>
            <a:pPr indent="0" marL="0">
              <a:buNone/>
            </a:pPr>
            <a:r>
              <a:rPr lang="en-US" sz="1400" dirty="0">
                <a:solidFill>
                  <a:schemeClr val="tx1"/>
                </a:solidFill>
              </a:rPr>
              <a:t>missing: admissions, laboratory, prescriptions, referrals, facility master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400" b="1" dirty="0">
                <a:solidFill>
                  <a:srgbClr val="0B3C49"/>
                </a:solidFill>
              </a:rPr>
              <a:t>RWF 8.39bn collected, 90% of billed</a:t>
            </a:r>
            <a:endParaRPr lang="en-US" sz="3400" dirty="0"/>
          </a:p>
        </p:txBody>
      </p:sp>
      <p:graphicFrame>
        <p:nvGraphicFramePr>
          <p:cNvPr id="4" name="Chart 0" descr=""/>
          <p:cNvGraphicFramePr/>
          <p:nvPr/>
        </p:nvGraphicFramePr>
        <p:xfrm>
          <a:off x="548640" y="146304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760720"/>
            <a:ext cx="6583680" cy="457200"/>
          </a:xfrm>
          <a:prstGeom prst="rect">
            <a:avLst/>
          </a:prstGeom>
          <a:noFill/>
          <a:ln/>
        </p:spPr>
        <p:txBody>
          <a:bodyPr wrap="square" lIns="0" tIns="0" rIns="0" bIns="0" rtlCol="0" anchor="t"/>
          <a:lstStyle/>
          <a:p>
            <a:pPr indent="0" marL="0">
              <a:buNone/>
            </a:pPr>
            <a:r>
              <a:rPr lang="en-US" sz="1100" i="1" dirty="0">
                <a:solidFill>
                  <a:schemeClr val="accent5"/>
                </a:solidFill>
              </a:rPr>
              <a:t>RWF billions. Outstanding = billed minus collected.</a:t>
            </a:r>
            <a:endParaRPr lang="en-US" sz="1100" dirty="0"/>
          </a:p>
        </p:txBody>
      </p:sp>
      <p:sp>
        <p:nvSpPr>
          <p:cNvPr id="6" name="Card collection rate"/>
          <p:cNvSpPr/>
          <p:nvPr/>
        </p:nvSpPr>
        <p:spPr>
          <a:xfrm>
            <a:off x="7589520" y="1645920"/>
            <a:ext cx="4023360" cy="1828800"/>
          </a:xfrm>
          <a:prstGeom prst="roundRect">
            <a:avLst>
              <a:gd name="adj" fmla="val 6000"/>
            </a:avLst>
          </a:prstGeom>
          <a:solidFill>
            <a:schemeClr val="bg2"/>
          </a:solidFill>
          <a:ln w="12700">
            <a:solidFill>
              <a:schemeClr val="bg2"/>
            </a:solidFill>
            <a:prstDash val="solid"/>
          </a:ln>
        </p:spPr>
      </p:sp>
      <p:sp>
        <p:nvSpPr>
          <p:cNvPr id="7" name="Text 3"/>
          <p:cNvSpPr txBox="1"/>
          <p:nvPr/>
        </p:nvSpPr>
        <p:spPr>
          <a:xfrm>
            <a:off x="7818120" y="1783080"/>
            <a:ext cx="3566160" cy="950976"/>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90.12%</a:t>
            </a:r>
            <a:endParaRPr lang="en-US" sz="3800" dirty="0"/>
          </a:p>
        </p:txBody>
      </p:sp>
      <p:sp>
        <p:nvSpPr>
          <p:cNvPr id="8" name="Text 4"/>
          <p:cNvSpPr txBox="1"/>
          <p:nvPr/>
        </p:nvSpPr>
        <p:spPr>
          <a:xfrm>
            <a:off x="7818120" y="2779776"/>
            <a:ext cx="3566160" cy="731520"/>
          </a:xfrm>
          <a:prstGeom prst="rect">
            <a:avLst/>
          </a:prstGeom>
          <a:noFill/>
          <a:ln/>
        </p:spPr>
        <p:txBody>
          <a:bodyPr wrap="square" lIns="0" tIns="0" rIns="0" bIns="0" rtlCol="0" anchor="t"/>
          <a:lstStyle/>
          <a:p>
            <a:pPr indent="0" marL="0">
              <a:buNone/>
            </a:pPr>
            <a:r>
              <a:rPr lang="en-US" sz="1400" dirty="0">
                <a:solidFill>
                  <a:schemeClr val="tx1"/>
                </a:solidFill>
              </a:rPr>
              <a:t>collection rate</a:t>
            </a:r>
            <a:endParaRPr lang="en-US" sz="1400" dirty="0"/>
          </a:p>
        </p:txBody>
      </p:sp>
      <p:sp>
        <p:nvSpPr>
          <p:cNvPr id="9" name="Card average bill"/>
          <p:cNvSpPr/>
          <p:nvPr/>
        </p:nvSpPr>
        <p:spPr>
          <a:xfrm>
            <a:off x="7589520" y="3749040"/>
            <a:ext cx="4023360" cy="1828800"/>
          </a:xfrm>
          <a:prstGeom prst="roundRect">
            <a:avLst>
              <a:gd name="adj" fmla="val 6000"/>
            </a:avLst>
          </a:prstGeom>
          <a:solidFill>
            <a:schemeClr val="bg2"/>
          </a:solidFill>
          <a:ln w="12700">
            <a:solidFill>
              <a:schemeClr val="bg2"/>
            </a:solidFill>
            <a:prstDash val="solid"/>
          </a:ln>
        </p:spPr>
      </p:sp>
      <p:sp>
        <p:nvSpPr>
          <p:cNvPr id="10" name="Text 6"/>
          <p:cNvSpPr txBox="1"/>
          <p:nvPr/>
        </p:nvSpPr>
        <p:spPr>
          <a:xfrm>
            <a:off x="7818120" y="3886200"/>
            <a:ext cx="3566160" cy="950976"/>
          </a:xfrm>
          <a:prstGeom prst="rect">
            <a:avLst/>
          </a:prstGeom>
          <a:noFill/>
          <a:ln/>
        </p:spPr>
        <p:txBody>
          <a:bodyPr wrap="square" lIns="0" tIns="0" rIns="0" bIns="0" rtlCol="0" anchor="b"/>
          <a:lstStyle/>
          <a:p>
            <a:pPr indent="0" marL="0">
              <a:buNone/>
            </a:pPr>
            <a:r>
              <a:rPr lang="en-US" sz="3800" b="1" dirty="0">
                <a:solidFill>
                  <a:schemeClr val="accent4"/>
                </a:solidFill>
                <a:latin typeface="Cambria" pitchFamily="34" charset="0"/>
                <a:ea typeface="Cambria" pitchFamily="34" charset="-122"/>
                <a:cs typeface="Cambria" pitchFamily="34" charset="-120"/>
              </a:rPr>
              <a:t>RWF 155,157</a:t>
            </a:r>
            <a:endParaRPr lang="en-US" sz="3800" dirty="0"/>
          </a:p>
        </p:txBody>
      </p:sp>
      <p:sp>
        <p:nvSpPr>
          <p:cNvPr id="11" name="Text 7"/>
          <p:cNvSpPr txBox="1"/>
          <p:nvPr/>
        </p:nvSpPr>
        <p:spPr>
          <a:xfrm>
            <a:off x="7818120" y="4882896"/>
            <a:ext cx="3566160" cy="731520"/>
          </a:xfrm>
          <a:prstGeom prst="rect">
            <a:avLst/>
          </a:prstGeom>
          <a:noFill/>
          <a:ln/>
        </p:spPr>
        <p:txBody>
          <a:bodyPr wrap="square" lIns="0" tIns="0" rIns="0" bIns="0" rtlCol="0" anchor="t"/>
          <a:lstStyle/>
          <a:p>
            <a:pPr indent="0" marL="0">
              <a:buNone/>
            </a:pPr>
            <a:r>
              <a:rPr lang="en-US" sz="1400" dirty="0">
                <a:solidFill>
                  <a:schemeClr val="tx1"/>
                </a:solidFill>
              </a:rPr>
              <a:t>average bill</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400" b="1" dirty="0">
                <a:solidFill>
                  <a:srgbClr val="0B3C49"/>
                </a:solidFill>
              </a:rPr>
              <a:t>People aged 65+ are the largest group</a:t>
            </a:r>
            <a:endParaRPr lang="en-US" sz="3400" dirty="0"/>
          </a:p>
        </p:txBody>
      </p:sp>
      <p:graphicFrame>
        <p:nvGraphicFramePr>
          <p:cNvPr id="4" name="Chart 0" descr=""/>
          <p:cNvGraphicFramePr/>
          <p:nvPr/>
        </p:nvGraphicFramePr>
        <p:xfrm>
          <a:off x="548640" y="146304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760720"/>
            <a:ext cx="6583680" cy="457200"/>
          </a:xfrm>
          <a:prstGeom prst="rect">
            <a:avLst/>
          </a:prstGeom>
          <a:noFill/>
          <a:ln/>
        </p:spPr>
        <p:txBody>
          <a:bodyPr wrap="square" lIns="0" tIns="0" rIns="0" bIns="0" rtlCol="0" anchor="t"/>
          <a:lstStyle/>
          <a:p>
            <a:pPr indent="0" marL="0">
              <a:buNone/>
            </a:pPr>
            <a:r>
              <a:rPr lang="en-US" sz="1100" i="1" dirty="0">
                <a:solidFill>
                  <a:schemeClr val="accent5"/>
                </a:solidFill>
              </a:rPr>
              <a:t>Patients by age group (20,000 total)</a:t>
            </a:r>
            <a:endParaRPr lang="en-US" sz="1100" dirty="0"/>
          </a:p>
        </p:txBody>
      </p:sp>
      <p:sp>
        <p:nvSpPr>
          <p:cNvPr id="6" name="Card aged 65 and over"/>
          <p:cNvSpPr/>
          <p:nvPr/>
        </p:nvSpPr>
        <p:spPr>
          <a:xfrm>
            <a:off x="7589520" y="1463040"/>
            <a:ext cx="4023360" cy="1371600"/>
          </a:xfrm>
          <a:prstGeom prst="roundRect">
            <a:avLst>
              <a:gd name="adj" fmla="val 8000"/>
            </a:avLst>
          </a:prstGeom>
          <a:solidFill>
            <a:schemeClr val="bg2"/>
          </a:solidFill>
          <a:ln w="12700">
            <a:solidFill>
              <a:schemeClr val="bg2"/>
            </a:solidFill>
            <a:prstDash val="solid"/>
          </a:ln>
        </p:spPr>
      </p:sp>
      <p:sp>
        <p:nvSpPr>
          <p:cNvPr id="7" name="Text 3"/>
          <p:cNvSpPr txBox="1"/>
          <p:nvPr/>
        </p:nvSpPr>
        <p:spPr>
          <a:xfrm>
            <a:off x="7818120" y="1600200"/>
            <a:ext cx="3566160" cy="713232"/>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28.5%</a:t>
            </a:r>
            <a:endParaRPr lang="en-US" sz="3800" dirty="0"/>
          </a:p>
        </p:txBody>
      </p:sp>
      <p:sp>
        <p:nvSpPr>
          <p:cNvPr id="8" name="Text 4"/>
          <p:cNvSpPr txBox="1"/>
          <p:nvPr/>
        </p:nvSpPr>
        <p:spPr>
          <a:xfrm>
            <a:off x="7818120" y="2359152"/>
            <a:ext cx="3566160" cy="548640"/>
          </a:xfrm>
          <a:prstGeom prst="rect">
            <a:avLst/>
          </a:prstGeom>
          <a:noFill/>
          <a:ln/>
        </p:spPr>
        <p:txBody>
          <a:bodyPr wrap="square" lIns="0" tIns="0" rIns="0" bIns="0" rtlCol="0" anchor="t"/>
          <a:lstStyle/>
          <a:p>
            <a:pPr indent="0" marL="0">
              <a:buNone/>
            </a:pPr>
            <a:r>
              <a:rPr lang="en-US" sz="1400" dirty="0">
                <a:solidFill>
                  <a:schemeClr val="tx1"/>
                </a:solidFill>
              </a:rPr>
              <a:t>aged 65 and over</a:t>
            </a:r>
            <a:endParaRPr lang="en-US" sz="1400" dirty="0"/>
          </a:p>
        </p:txBody>
      </p:sp>
      <p:sp>
        <p:nvSpPr>
          <p:cNvPr id="9" name="Card have a chronic condition"/>
          <p:cNvSpPr/>
          <p:nvPr/>
        </p:nvSpPr>
        <p:spPr>
          <a:xfrm>
            <a:off x="7589520" y="3017520"/>
            <a:ext cx="4023360" cy="1371600"/>
          </a:xfrm>
          <a:prstGeom prst="roundRect">
            <a:avLst>
              <a:gd name="adj" fmla="val 8000"/>
            </a:avLst>
          </a:prstGeom>
          <a:solidFill>
            <a:schemeClr val="bg2"/>
          </a:solidFill>
          <a:ln w="12700">
            <a:solidFill>
              <a:schemeClr val="bg2"/>
            </a:solidFill>
            <a:prstDash val="solid"/>
          </a:ln>
        </p:spPr>
      </p:sp>
      <p:sp>
        <p:nvSpPr>
          <p:cNvPr id="10" name="Text 6"/>
          <p:cNvSpPr txBox="1"/>
          <p:nvPr/>
        </p:nvSpPr>
        <p:spPr>
          <a:xfrm>
            <a:off x="7818120" y="3154680"/>
            <a:ext cx="3566160" cy="713232"/>
          </a:xfrm>
          <a:prstGeom prst="rect">
            <a:avLst/>
          </a:prstGeom>
          <a:noFill/>
          <a:ln/>
        </p:spPr>
        <p:txBody>
          <a:bodyPr wrap="square" lIns="0" tIns="0" rIns="0" bIns="0" rtlCol="0" anchor="b"/>
          <a:lstStyle/>
          <a:p>
            <a:pPr indent="0" marL="0">
              <a:buNone/>
            </a:pPr>
            <a:r>
              <a:rPr lang="en-US" sz="3800" b="1" dirty="0">
                <a:solidFill>
                  <a:schemeClr val="accent3"/>
                </a:solidFill>
                <a:latin typeface="Cambria" pitchFamily="34" charset="0"/>
                <a:ea typeface="Cambria" pitchFamily="34" charset="-122"/>
                <a:cs typeface="Cambria" pitchFamily="34" charset="-120"/>
              </a:rPr>
              <a:t>74.65%</a:t>
            </a:r>
            <a:endParaRPr lang="en-US" sz="3800" dirty="0"/>
          </a:p>
        </p:txBody>
      </p:sp>
      <p:sp>
        <p:nvSpPr>
          <p:cNvPr id="11" name="Text 7"/>
          <p:cNvSpPr txBox="1"/>
          <p:nvPr/>
        </p:nvSpPr>
        <p:spPr>
          <a:xfrm>
            <a:off x="7818120" y="3913632"/>
            <a:ext cx="3566160" cy="548640"/>
          </a:xfrm>
          <a:prstGeom prst="rect">
            <a:avLst/>
          </a:prstGeom>
          <a:noFill/>
          <a:ln/>
        </p:spPr>
        <p:txBody>
          <a:bodyPr wrap="square" lIns="0" tIns="0" rIns="0" bIns="0" rtlCol="0" anchor="t"/>
          <a:lstStyle/>
          <a:p>
            <a:pPr indent="0" marL="0">
              <a:buNone/>
            </a:pPr>
            <a:r>
              <a:rPr lang="en-US" sz="1400" dirty="0">
                <a:solidFill>
                  <a:schemeClr val="tx1"/>
                </a:solidFill>
              </a:rPr>
              <a:t>have a chronic condition</a:t>
            </a:r>
            <a:endParaRPr lang="en-US" sz="1400" dirty="0"/>
          </a:p>
        </p:txBody>
      </p:sp>
      <p:sp>
        <p:nvSpPr>
          <p:cNvPr id="12" name="Card average patient age"/>
          <p:cNvSpPr/>
          <p:nvPr/>
        </p:nvSpPr>
        <p:spPr>
          <a:xfrm>
            <a:off x="7589520" y="4572000"/>
            <a:ext cx="4023360" cy="1371600"/>
          </a:xfrm>
          <a:prstGeom prst="roundRect">
            <a:avLst>
              <a:gd name="adj" fmla="val 8000"/>
            </a:avLst>
          </a:prstGeom>
          <a:solidFill>
            <a:schemeClr val="bg2"/>
          </a:solidFill>
          <a:ln w="12700">
            <a:solidFill>
              <a:schemeClr val="bg2"/>
            </a:solidFill>
            <a:prstDash val="solid"/>
          </a:ln>
        </p:spPr>
      </p:sp>
      <p:sp>
        <p:nvSpPr>
          <p:cNvPr id="13" name="Text 9"/>
          <p:cNvSpPr txBox="1"/>
          <p:nvPr/>
        </p:nvSpPr>
        <p:spPr>
          <a:xfrm>
            <a:off x="7818120" y="4709160"/>
            <a:ext cx="3566160" cy="713232"/>
          </a:xfrm>
          <a:prstGeom prst="rect">
            <a:avLst/>
          </a:prstGeom>
          <a:noFill/>
          <a:ln/>
        </p:spPr>
        <p:txBody>
          <a:bodyPr wrap="square" lIns="0" tIns="0" rIns="0" bIns="0" rtlCol="0" anchor="b"/>
          <a:lstStyle/>
          <a:p>
            <a:pPr indent="0" marL="0">
              <a:buNone/>
            </a:pPr>
            <a:r>
              <a:rPr lang="en-US" sz="3800" b="1" dirty="0">
                <a:solidFill>
                  <a:schemeClr val="accent4"/>
                </a:solidFill>
                <a:latin typeface="Cambria" pitchFamily="34" charset="0"/>
                <a:ea typeface="Cambria" pitchFamily="34" charset="-122"/>
                <a:cs typeface="Cambria" pitchFamily="34" charset="-120"/>
              </a:rPr>
              <a:t>45</a:t>
            </a:r>
            <a:endParaRPr lang="en-US" sz="3800" dirty="0"/>
          </a:p>
        </p:txBody>
      </p:sp>
      <p:sp>
        <p:nvSpPr>
          <p:cNvPr id="14" name="Text 10"/>
          <p:cNvSpPr txBox="1"/>
          <p:nvPr/>
        </p:nvSpPr>
        <p:spPr>
          <a:xfrm>
            <a:off x="7818120" y="5468112"/>
            <a:ext cx="3566160" cy="548640"/>
          </a:xfrm>
          <a:prstGeom prst="rect">
            <a:avLst/>
          </a:prstGeom>
          <a:noFill/>
          <a:ln/>
        </p:spPr>
        <p:txBody>
          <a:bodyPr wrap="square" lIns="0" tIns="0" rIns="0" bIns="0" rtlCol="0" anchor="t"/>
          <a:lstStyle/>
          <a:p>
            <a:pPr indent="0" marL="0">
              <a:buNone/>
            </a:pPr>
            <a:r>
              <a:rPr lang="en-US" sz="1400" dirty="0">
                <a:solidFill>
                  <a:schemeClr val="tx1"/>
                </a:solidFill>
              </a:rPr>
              <a:t>average patient age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400" b="1" dirty="0">
                <a:solidFill>
                  <a:srgbClr val="0B3C49"/>
                </a:solidFill>
              </a:rPr>
              <a:t>Demand is steady at about 417 a month</a:t>
            </a:r>
            <a:endParaRPr lang="en-US" sz="3400" dirty="0"/>
          </a:p>
        </p:txBody>
      </p:sp>
      <p:graphicFrame>
        <p:nvGraphicFramePr>
          <p:cNvPr id="4" name="Chart 0" descr=""/>
          <p:cNvGraphicFramePr/>
          <p:nvPr/>
        </p:nvGraphicFramePr>
        <p:xfrm>
          <a:off x="548640" y="146304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760720"/>
            <a:ext cx="6949440" cy="457200"/>
          </a:xfrm>
          <a:prstGeom prst="rect">
            <a:avLst/>
          </a:prstGeom>
          <a:noFill/>
          <a:ln/>
        </p:spPr>
        <p:txBody>
          <a:bodyPr wrap="square" lIns="0" tIns="0" rIns="0" bIns="0" rtlCol="0" anchor="t"/>
          <a:lstStyle/>
          <a:p>
            <a:pPr indent="0" marL="0">
              <a:buNone/>
            </a:pPr>
            <a:r>
              <a:rPr lang="en-US" sz="1100" i="1" dirty="0">
                <a:solidFill>
                  <a:schemeClr val="accent5"/>
                </a:solidFill>
              </a:rPr>
              <a:t>Appointments per month, 2026 (5,000 total)</a:t>
            </a:r>
            <a:endParaRPr lang="en-US" sz="1100" dirty="0"/>
          </a:p>
        </p:txBody>
      </p:sp>
      <p:sp>
        <p:nvSpPr>
          <p:cNvPr id="6" name="Card peak, in March"/>
          <p:cNvSpPr/>
          <p:nvPr/>
        </p:nvSpPr>
        <p:spPr>
          <a:xfrm>
            <a:off x="7955280" y="1463040"/>
            <a:ext cx="3657600" cy="1371600"/>
          </a:xfrm>
          <a:prstGeom prst="roundRect">
            <a:avLst>
              <a:gd name="adj" fmla="val 8000"/>
            </a:avLst>
          </a:prstGeom>
          <a:solidFill>
            <a:schemeClr val="bg2"/>
          </a:solidFill>
          <a:ln w="12700">
            <a:solidFill>
              <a:schemeClr val="bg2"/>
            </a:solidFill>
            <a:prstDash val="solid"/>
          </a:ln>
        </p:spPr>
      </p:sp>
      <p:sp>
        <p:nvSpPr>
          <p:cNvPr id="7" name="Text 3"/>
          <p:cNvSpPr txBox="1"/>
          <p:nvPr/>
        </p:nvSpPr>
        <p:spPr>
          <a:xfrm>
            <a:off x="8183880" y="1600200"/>
            <a:ext cx="3200400" cy="713232"/>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440</a:t>
            </a:r>
            <a:endParaRPr lang="en-US" sz="3800" dirty="0"/>
          </a:p>
        </p:txBody>
      </p:sp>
      <p:sp>
        <p:nvSpPr>
          <p:cNvPr id="8" name="Text 4"/>
          <p:cNvSpPr txBox="1"/>
          <p:nvPr/>
        </p:nvSpPr>
        <p:spPr>
          <a:xfrm>
            <a:off x="8183880" y="2359152"/>
            <a:ext cx="3200400" cy="548640"/>
          </a:xfrm>
          <a:prstGeom prst="rect">
            <a:avLst/>
          </a:prstGeom>
          <a:noFill/>
          <a:ln/>
        </p:spPr>
        <p:txBody>
          <a:bodyPr wrap="square" lIns="0" tIns="0" rIns="0" bIns="0" rtlCol="0" anchor="t"/>
          <a:lstStyle/>
          <a:p>
            <a:pPr indent="0" marL="0">
              <a:buNone/>
            </a:pPr>
            <a:r>
              <a:rPr lang="en-US" sz="1400" dirty="0">
                <a:solidFill>
                  <a:schemeClr val="tx1"/>
                </a:solidFill>
              </a:rPr>
              <a:t>peak, in March</a:t>
            </a:r>
            <a:endParaRPr lang="en-US" sz="1400" dirty="0"/>
          </a:p>
        </p:txBody>
      </p:sp>
      <p:sp>
        <p:nvSpPr>
          <p:cNvPr id="9" name="Card low, in May"/>
          <p:cNvSpPr/>
          <p:nvPr/>
        </p:nvSpPr>
        <p:spPr>
          <a:xfrm>
            <a:off x="7955280" y="3017520"/>
            <a:ext cx="3657600" cy="1371600"/>
          </a:xfrm>
          <a:prstGeom prst="roundRect">
            <a:avLst>
              <a:gd name="adj" fmla="val 8000"/>
            </a:avLst>
          </a:prstGeom>
          <a:solidFill>
            <a:schemeClr val="bg2"/>
          </a:solidFill>
          <a:ln w="12700">
            <a:solidFill>
              <a:schemeClr val="bg2"/>
            </a:solidFill>
            <a:prstDash val="solid"/>
          </a:ln>
        </p:spPr>
      </p:sp>
      <p:sp>
        <p:nvSpPr>
          <p:cNvPr id="10" name="Text 6"/>
          <p:cNvSpPr txBox="1"/>
          <p:nvPr/>
        </p:nvSpPr>
        <p:spPr>
          <a:xfrm>
            <a:off x="8183880" y="3154680"/>
            <a:ext cx="3200400" cy="713232"/>
          </a:xfrm>
          <a:prstGeom prst="rect">
            <a:avLst/>
          </a:prstGeom>
          <a:noFill/>
          <a:ln/>
        </p:spPr>
        <p:txBody>
          <a:bodyPr wrap="square" lIns="0" tIns="0" rIns="0" bIns="0" rtlCol="0" anchor="b"/>
          <a:lstStyle/>
          <a:p>
            <a:pPr indent="0" marL="0">
              <a:buNone/>
            </a:pPr>
            <a:r>
              <a:rPr lang="en-US" sz="3800" b="1" dirty="0">
                <a:solidFill>
                  <a:schemeClr val="accent4"/>
                </a:solidFill>
                <a:latin typeface="Cambria" pitchFamily="34" charset="0"/>
                <a:ea typeface="Cambria" pitchFamily="34" charset="-122"/>
                <a:cs typeface="Cambria" pitchFamily="34" charset="-120"/>
              </a:rPr>
              <a:t>400</a:t>
            </a:r>
            <a:endParaRPr lang="en-US" sz="3800" dirty="0"/>
          </a:p>
        </p:txBody>
      </p:sp>
      <p:sp>
        <p:nvSpPr>
          <p:cNvPr id="11" name="Text 7"/>
          <p:cNvSpPr txBox="1"/>
          <p:nvPr/>
        </p:nvSpPr>
        <p:spPr>
          <a:xfrm>
            <a:off x="8183880" y="3913632"/>
            <a:ext cx="3200400" cy="548640"/>
          </a:xfrm>
          <a:prstGeom prst="rect">
            <a:avLst/>
          </a:prstGeom>
          <a:noFill/>
          <a:ln/>
        </p:spPr>
        <p:txBody>
          <a:bodyPr wrap="square" lIns="0" tIns="0" rIns="0" bIns="0" rtlCol="0" anchor="t"/>
          <a:lstStyle/>
          <a:p>
            <a:pPr indent="0" marL="0">
              <a:buNone/>
            </a:pPr>
            <a:r>
              <a:rPr lang="en-US" sz="1400" dirty="0">
                <a:solidFill>
                  <a:schemeClr val="tx1"/>
                </a:solidFill>
              </a:rPr>
              <a:t>low, in May</a:t>
            </a:r>
            <a:endParaRPr lang="en-US" sz="1400" dirty="0"/>
          </a:p>
        </p:txBody>
      </p:sp>
      <p:sp>
        <p:nvSpPr>
          <p:cNvPr id="12" name="Card three-month forecast"/>
          <p:cNvSpPr/>
          <p:nvPr/>
        </p:nvSpPr>
        <p:spPr>
          <a:xfrm>
            <a:off x="7955280" y="4572000"/>
            <a:ext cx="3657600" cy="1371600"/>
          </a:xfrm>
          <a:prstGeom prst="roundRect">
            <a:avLst>
              <a:gd name="adj" fmla="val 8000"/>
            </a:avLst>
          </a:prstGeom>
          <a:solidFill>
            <a:schemeClr val="bg2"/>
          </a:solidFill>
          <a:ln w="12700">
            <a:solidFill>
              <a:schemeClr val="bg2"/>
            </a:solidFill>
            <a:prstDash val="solid"/>
          </a:ln>
        </p:spPr>
      </p:sp>
      <p:sp>
        <p:nvSpPr>
          <p:cNvPr id="13" name="Text 9"/>
          <p:cNvSpPr txBox="1"/>
          <p:nvPr/>
        </p:nvSpPr>
        <p:spPr>
          <a:xfrm>
            <a:off x="8183880" y="4709160"/>
            <a:ext cx="3200400" cy="713232"/>
          </a:xfrm>
          <a:prstGeom prst="rect">
            <a:avLst/>
          </a:prstGeom>
          <a:noFill/>
          <a:ln/>
        </p:spPr>
        <p:txBody>
          <a:bodyPr wrap="square" lIns="0" tIns="0" rIns="0" bIns="0" rtlCol="0" anchor="b"/>
          <a:lstStyle/>
          <a:p>
            <a:pPr indent="0" marL="0">
              <a:buNone/>
            </a:pPr>
            <a:r>
              <a:rPr lang="en-US" sz="3800" b="1" dirty="0">
                <a:solidFill>
                  <a:schemeClr val="accent3"/>
                </a:solidFill>
                <a:latin typeface="Cambria" pitchFamily="34" charset="0"/>
                <a:ea typeface="Cambria" pitchFamily="34" charset="-122"/>
                <a:cs typeface="Cambria" pitchFamily="34" charset="-120"/>
              </a:rPr>
              <a:t>Flat</a:t>
            </a:r>
            <a:endParaRPr lang="en-US" sz="3800" dirty="0"/>
          </a:p>
        </p:txBody>
      </p:sp>
      <p:sp>
        <p:nvSpPr>
          <p:cNvPr id="14" name="Text 10"/>
          <p:cNvSpPr txBox="1"/>
          <p:nvPr/>
        </p:nvSpPr>
        <p:spPr>
          <a:xfrm>
            <a:off x="8183880" y="5468112"/>
            <a:ext cx="3200400" cy="548640"/>
          </a:xfrm>
          <a:prstGeom prst="rect">
            <a:avLst/>
          </a:prstGeom>
          <a:noFill/>
          <a:ln/>
        </p:spPr>
        <p:txBody>
          <a:bodyPr wrap="square" lIns="0" tIns="0" rIns="0" bIns="0" rtlCol="0" anchor="t"/>
          <a:lstStyle/>
          <a:p>
            <a:pPr indent="0" marL="0">
              <a:buNone/>
            </a:pPr>
            <a:r>
              <a:rPr lang="en-US" sz="1400" dirty="0">
                <a:solidFill>
                  <a:schemeClr val="tx1"/>
                </a:solidFill>
              </a:rPr>
              <a:t>three-month forecast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400" b="1" dirty="0">
                <a:solidFill>
                  <a:srgbClr val="0B3C49"/>
                </a:solidFill>
              </a:rPr>
              <a:t>Five diagnoses, each about a fifth</a:t>
            </a:r>
            <a:endParaRPr lang="en-US" sz="3400" dirty="0"/>
          </a:p>
        </p:txBody>
      </p:sp>
      <p:graphicFrame>
        <p:nvGraphicFramePr>
          <p:cNvPr id="4" name="Chart 0" descr=""/>
          <p:cNvGraphicFramePr/>
          <p:nvPr/>
        </p:nvGraphicFramePr>
        <p:xfrm>
          <a:off x="548640" y="146304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760720"/>
            <a:ext cx="6766560" cy="457200"/>
          </a:xfrm>
          <a:prstGeom prst="rect">
            <a:avLst/>
          </a:prstGeom>
          <a:noFill/>
          <a:ln/>
        </p:spPr>
        <p:txBody>
          <a:bodyPr wrap="square" lIns="0" tIns="0" rIns="0" bIns="0" rtlCol="0" anchor="t"/>
          <a:lstStyle/>
          <a:p>
            <a:pPr indent="0" marL="0">
              <a:buNone/>
            </a:pPr>
            <a:r>
              <a:rPr lang="en-US" sz="1100" i="1" dirty="0">
                <a:solidFill>
                  <a:schemeClr val="accent5"/>
                </a:solidFill>
              </a:rPr>
              <a:t>Diagnoses recorded (60,000 total)</a:t>
            </a:r>
            <a:endParaRPr lang="en-US" sz="1100" dirty="0"/>
          </a:p>
        </p:txBody>
      </p:sp>
      <p:sp>
        <p:nvSpPr>
          <p:cNvPr id="6" name="Card of cases are severe"/>
          <p:cNvSpPr/>
          <p:nvPr/>
        </p:nvSpPr>
        <p:spPr>
          <a:xfrm>
            <a:off x="7772400" y="1463040"/>
            <a:ext cx="3840480" cy="1371600"/>
          </a:xfrm>
          <a:prstGeom prst="roundRect">
            <a:avLst>
              <a:gd name="adj" fmla="val 8000"/>
            </a:avLst>
          </a:prstGeom>
          <a:solidFill>
            <a:schemeClr val="bg2"/>
          </a:solidFill>
          <a:ln w="12700">
            <a:solidFill>
              <a:schemeClr val="bg2"/>
            </a:solidFill>
            <a:prstDash val="solid"/>
          </a:ln>
        </p:spPr>
      </p:sp>
      <p:sp>
        <p:nvSpPr>
          <p:cNvPr id="7" name="Text 3"/>
          <p:cNvSpPr txBox="1"/>
          <p:nvPr/>
        </p:nvSpPr>
        <p:spPr>
          <a:xfrm>
            <a:off x="8001000" y="1600200"/>
            <a:ext cx="3383280" cy="713232"/>
          </a:xfrm>
          <a:prstGeom prst="rect">
            <a:avLst/>
          </a:prstGeom>
          <a:noFill/>
          <a:ln/>
        </p:spPr>
        <p:txBody>
          <a:bodyPr wrap="square" lIns="0" tIns="0" rIns="0" bIns="0" rtlCol="0" anchor="b"/>
          <a:lstStyle/>
          <a:p>
            <a:pPr indent="0" marL="0">
              <a:buNone/>
            </a:pPr>
            <a:r>
              <a:rPr lang="en-US" sz="3800" b="1" dirty="0">
                <a:solidFill>
                  <a:schemeClr val="accent3"/>
                </a:solidFill>
                <a:latin typeface="Cambria" pitchFamily="34" charset="0"/>
                <a:ea typeface="Cambria" pitchFamily="34" charset="-122"/>
                <a:cs typeface="Cambria" pitchFamily="34" charset="-120"/>
              </a:rPr>
              <a:t>33.31%</a:t>
            </a:r>
            <a:endParaRPr lang="en-US" sz="3800" dirty="0"/>
          </a:p>
        </p:txBody>
      </p:sp>
      <p:sp>
        <p:nvSpPr>
          <p:cNvPr id="8" name="Text 4"/>
          <p:cNvSpPr txBox="1"/>
          <p:nvPr/>
        </p:nvSpPr>
        <p:spPr>
          <a:xfrm>
            <a:off x="8001000" y="2359152"/>
            <a:ext cx="3383280" cy="548640"/>
          </a:xfrm>
          <a:prstGeom prst="rect">
            <a:avLst/>
          </a:prstGeom>
          <a:noFill/>
          <a:ln/>
        </p:spPr>
        <p:txBody>
          <a:bodyPr wrap="square" lIns="0" tIns="0" rIns="0" bIns="0" rtlCol="0" anchor="t"/>
          <a:lstStyle/>
          <a:p>
            <a:pPr indent="0" marL="0">
              <a:buNone/>
            </a:pPr>
            <a:r>
              <a:rPr lang="en-US" sz="1400" dirty="0">
                <a:solidFill>
                  <a:schemeClr val="tx1"/>
                </a:solidFill>
              </a:rPr>
              <a:t>of cases are severe</a:t>
            </a:r>
            <a:endParaRPr lang="en-US" sz="1400" dirty="0"/>
          </a:p>
        </p:txBody>
      </p:sp>
      <p:sp>
        <p:nvSpPr>
          <p:cNvPr id="9" name="Text 5"/>
          <p:cNvSpPr txBox="1"/>
          <p:nvPr/>
        </p:nvSpPr>
        <p:spPr>
          <a:xfrm>
            <a:off x="7772400" y="3063240"/>
            <a:ext cx="3840480" cy="640080"/>
          </a:xfrm>
          <a:prstGeom prst="rect">
            <a:avLst/>
          </a:prstGeom>
          <a:noFill/>
          <a:ln/>
        </p:spPr>
        <p:txBody>
          <a:bodyPr wrap="square" lIns="0" tIns="0" rIns="0" bIns="0" rtlCol="0" anchor="t"/>
          <a:lstStyle/>
          <a:p>
            <a:pPr indent="0" marL="0">
              <a:buNone/>
            </a:pPr>
            <a:r>
              <a:rPr lang="en-US" sz="1400" dirty="0">
                <a:solidFill>
                  <a:schemeClr val="tx1"/>
                </a:solidFill>
              </a:rPr>
              <a:t>Mild 20,190  |  Moderate 19,827  |  Severe 19,983</a:t>
            </a:r>
            <a:endParaRPr lang="en-US" sz="1400" dirty="0"/>
          </a:p>
        </p:txBody>
      </p:sp>
      <p:sp>
        <p:nvSpPr>
          <p:cNvPr id="10" name="Text 6"/>
          <p:cNvSpPr txBox="1"/>
          <p:nvPr/>
        </p:nvSpPr>
        <p:spPr>
          <a:xfrm>
            <a:off x="7772400" y="3931920"/>
            <a:ext cx="3840480" cy="914400"/>
          </a:xfrm>
          <a:prstGeom prst="rect">
            <a:avLst/>
          </a:prstGeom>
          <a:noFill/>
          <a:ln/>
        </p:spPr>
        <p:txBody>
          <a:bodyPr wrap="square" lIns="0" tIns="0" rIns="0" bIns="0" rtlCol="0" anchor="t"/>
          <a:lstStyle/>
          <a:p>
            <a:pPr indent="0" marL="0">
              <a:buNone/>
            </a:pPr>
            <a:r>
              <a:rPr lang="en-US" sz="1800" b="1" dirty="0">
                <a:solidFill>
                  <a:schemeClr val="accent6"/>
                </a:solidFill>
              </a:rPr>
              <a:t>Key Influencers found no strong driver of severity.</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400" b="1" dirty="0">
                <a:solidFill>
                  <a:srgbClr val="0B3C49"/>
                </a:solidFill>
              </a:rPr>
              <a:t>Half of all claims are still pending</a:t>
            </a:r>
            <a:endParaRPr lang="en-US" sz="3400" dirty="0"/>
          </a:p>
        </p:txBody>
      </p:sp>
      <p:graphicFrame>
        <p:nvGraphicFramePr>
          <p:cNvPr id="4" name="Chart 0" descr=""/>
          <p:cNvGraphicFramePr/>
          <p:nvPr/>
        </p:nvGraphicFramePr>
        <p:xfrm>
          <a:off x="548640" y="146304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760720"/>
            <a:ext cx="6583680" cy="457200"/>
          </a:xfrm>
          <a:prstGeom prst="rect">
            <a:avLst/>
          </a:prstGeom>
          <a:noFill/>
          <a:ln/>
        </p:spPr>
        <p:txBody>
          <a:bodyPr wrap="square" lIns="0" tIns="0" rIns="0" bIns="0" rtlCol="0" anchor="t"/>
          <a:lstStyle/>
          <a:p>
            <a:pPr indent="0" marL="0">
              <a:buNone/>
            </a:pPr>
            <a:r>
              <a:rPr lang="en-US" sz="1100" i="1" dirty="0">
                <a:solidFill>
                  <a:schemeClr val="accent5"/>
                </a:solidFill>
              </a:rPr>
              <a:t>Claim value by provider, RWF millions (RWF 4.88bn in total)</a:t>
            </a:r>
            <a:endParaRPr lang="en-US" sz="1100" dirty="0"/>
          </a:p>
        </p:txBody>
      </p:sp>
      <p:sp>
        <p:nvSpPr>
          <p:cNvPr id="6" name="Card claims filed"/>
          <p:cNvSpPr/>
          <p:nvPr/>
        </p:nvSpPr>
        <p:spPr>
          <a:xfrm>
            <a:off x="7589520" y="1463040"/>
            <a:ext cx="4023360" cy="1371600"/>
          </a:xfrm>
          <a:prstGeom prst="roundRect">
            <a:avLst>
              <a:gd name="adj" fmla="val 8000"/>
            </a:avLst>
          </a:prstGeom>
          <a:solidFill>
            <a:schemeClr val="bg2"/>
          </a:solidFill>
          <a:ln w="12700">
            <a:solidFill>
              <a:schemeClr val="bg2"/>
            </a:solidFill>
            <a:prstDash val="solid"/>
          </a:ln>
        </p:spPr>
      </p:sp>
      <p:sp>
        <p:nvSpPr>
          <p:cNvPr id="7" name="Text 3"/>
          <p:cNvSpPr txBox="1"/>
          <p:nvPr/>
        </p:nvSpPr>
        <p:spPr>
          <a:xfrm>
            <a:off x="7818120" y="1600200"/>
            <a:ext cx="3566160" cy="713232"/>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42,036</a:t>
            </a:r>
            <a:endParaRPr lang="en-US" sz="3800" dirty="0"/>
          </a:p>
        </p:txBody>
      </p:sp>
      <p:sp>
        <p:nvSpPr>
          <p:cNvPr id="8" name="Text 4"/>
          <p:cNvSpPr txBox="1"/>
          <p:nvPr/>
        </p:nvSpPr>
        <p:spPr>
          <a:xfrm>
            <a:off x="7818120" y="2359152"/>
            <a:ext cx="3566160" cy="548640"/>
          </a:xfrm>
          <a:prstGeom prst="rect">
            <a:avLst/>
          </a:prstGeom>
          <a:noFill/>
          <a:ln/>
        </p:spPr>
        <p:txBody>
          <a:bodyPr wrap="square" lIns="0" tIns="0" rIns="0" bIns="0" rtlCol="0" anchor="t"/>
          <a:lstStyle/>
          <a:p>
            <a:pPr indent="0" marL="0">
              <a:buNone/>
            </a:pPr>
            <a:r>
              <a:rPr lang="en-US" sz="1400" dirty="0">
                <a:solidFill>
                  <a:schemeClr val="tx1"/>
                </a:solidFill>
              </a:rPr>
              <a:t>claims filed</a:t>
            </a:r>
            <a:endParaRPr lang="en-US" sz="1400" dirty="0"/>
          </a:p>
        </p:txBody>
      </p:sp>
      <p:sp>
        <p:nvSpPr>
          <p:cNvPr id="9" name="Card claims pending (50%)"/>
          <p:cNvSpPr/>
          <p:nvPr/>
        </p:nvSpPr>
        <p:spPr>
          <a:xfrm>
            <a:off x="7589520" y="3017520"/>
            <a:ext cx="4023360" cy="1371600"/>
          </a:xfrm>
          <a:prstGeom prst="roundRect">
            <a:avLst>
              <a:gd name="adj" fmla="val 8000"/>
            </a:avLst>
          </a:prstGeom>
          <a:solidFill>
            <a:schemeClr val="bg2"/>
          </a:solidFill>
          <a:ln w="12700">
            <a:solidFill>
              <a:schemeClr val="bg2"/>
            </a:solidFill>
            <a:prstDash val="solid"/>
          </a:ln>
        </p:spPr>
      </p:sp>
      <p:sp>
        <p:nvSpPr>
          <p:cNvPr id="10" name="Text 6"/>
          <p:cNvSpPr txBox="1"/>
          <p:nvPr/>
        </p:nvSpPr>
        <p:spPr>
          <a:xfrm>
            <a:off x="7818120" y="3154680"/>
            <a:ext cx="3566160" cy="713232"/>
          </a:xfrm>
          <a:prstGeom prst="rect">
            <a:avLst/>
          </a:prstGeom>
          <a:noFill/>
          <a:ln/>
        </p:spPr>
        <p:txBody>
          <a:bodyPr wrap="square" lIns="0" tIns="0" rIns="0" bIns="0" rtlCol="0" anchor="b"/>
          <a:lstStyle/>
          <a:p>
            <a:pPr indent="0" marL="0">
              <a:buNone/>
            </a:pPr>
            <a:r>
              <a:rPr lang="en-US" sz="3800" b="1" dirty="0">
                <a:solidFill>
                  <a:schemeClr val="accent3"/>
                </a:solidFill>
                <a:latin typeface="Cambria" pitchFamily="34" charset="0"/>
                <a:ea typeface="Cambria" pitchFamily="34" charset="-122"/>
                <a:cs typeface="Cambria" pitchFamily="34" charset="-120"/>
              </a:rPr>
              <a:t>21,028</a:t>
            </a:r>
            <a:endParaRPr lang="en-US" sz="3800" dirty="0"/>
          </a:p>
        </p:txBody>
      </p:sp>
      <p:sp>
        <p:nvSpPr>
          <p:cNvPr id="11" name="Text 7"/>
          <p:cNvSpPr txBox="1"/>
          <p:nvPr/>
        </p:nvSpPr>
        <p:spPr>
          <a:xfrm>
            <a:off x="7818120" y="3913632"/>
            <a:ext cx="3566160" cy="548640"/>
          </a:xfrm>
          <a:prstGeom prst="rect">
            <a:avLst/>
          </a:prstGeom>
          <a:noFill/>
          <a:ln/>
        </p:spPr>
        <p:txBody>
          <a:bodyPr wrap="square" lIns="0" tIns="0" rIns="0" bIns="0" rtlCol="0" anchor="t"/>
          <a:lstStyle/>
          <a:p>
            <a:pPr indent="0" marL="0">
              <a:buNone/>
            </a:pPr>
            <a:r>
              <a:rPr lang="en-US" sz="1400" dirty="0">
                <a:solidFill>
                  <a:schemeClr val="tx1"/>
                </a:solidFill>
              </a:rPr>
              <a:t>claims pending (50%)</a:t>
            </a:r>
            <a:endParaRPr lang="en-US" sz="1400" dirty="0"/>
          </a:p>
        </p:txBody>
      </p:sp>
      <p:sp>
        <p:nvSpPr>
          <p:cNvPr id="12" name="Card bills with no claim"/>
          <p:cNvSpPr/>
          <p:nvPr/>
        </p:nvSpPr>
        <p:spPr>
          <a:xfrm>
            <a:off x="7589520" y="4572000"/>
            <a:ext cx="4023360" cy="1371600"/>
          </a:xfrm>
          <a:prstGeom prst="roundRect">
            <a:avLst>
              <a:gd name="adj" fmla="val 8000"/>
            </a:avLst>
          </a:prstGeom>
          <a:solidFill>
            <a:schemeClr val="bg2"/>
          </a:solidFill>
          <a:ln w="12700">
            <a:solidFill>
              <a:schemeClr val="bg2"/>
            </a:solidFill>
            <a:prstDash val="solid"/>
          </a:ln>
        </p:spPr>
      </p:sp>
      <p:sp>
        <p:nvSpPr>
          <p:cNvPr id="13" name="Text 9"/>
          <p:cNvSpPr txBox="1"/>
          <p:nvPr/>
        </p:nvSpPr>
        <p:spPr>
          <a:xfrm>
            <a:off x="7818120" y="4709160"/>
            <a:ext cx="3566160" cy="713232"/>
          </a:xfrm>
          <a:prstGeom prst="rect">
            <a:avLst/>
          </a:prstGeom>
          <a:noFill/>
          <a:ln/>
        </p:spPr>
        <p:txBody>
          <a:bodyPr wrap="square" lIns="0" tIns="0" rIns="0" bIns="0" rtlCol="0" anchor="b"/>
          <a:lstStyle/>
          <a:p>
            <a:pPr indent="0" marL="0">
              <a:buNone/>
            </a:pPr>
            <a:r>
              <a:rPr lang="en-US" sz="3800" b="1" dirty="0">
                <a:solidFill>
                  <a:schemeClr val="accent4"/>
                </a:solidFill>
                <a:latin typeface="Cambria" pitchFamily="34" charset="0"/>
                <a:ea typeface="Cambria" pitchFamily="34" charset="-122"/>
                <a:cs typeface="Cambria" pitchFamily="34" charset="-120"/>
              </a:rPr>
              <a:t>17,964</a:t>
            </a:r>
            <a:endParaRPr lang="en-US" sz="3800" dirty="0"/>
          </a:p>
        </p:txBody>
      </p:sp>
      <p:sp>
        <p:nvSpPr>
          <p:cNvPr id="14" name="Text 10"/>
          <p:cNvSpPr txBox="1"/>
          <p:nvPr/>
        </p:nvSpPr>
        <p:spPr>
          <a:xfrm>
            <a:off x="7818120" y="5468112"/>
            <a:ext cx="3566160" cy="548640"/>
          </a:xfrm>
          <a:prstGeom prst="rect">
            <a:avLst/>
          </a:prstGeom>
          <a:noFill/>
          <a:ln/>
        </p:spPr>
        <p:txBody>
          <a:bodyPr wrap="square" lIns="0" tIns="0" rIns="0" bIns="0" rtlCol="0" anchor="t"/>
          <a:lstStyle/>
          <a:p>
            <a:pPr indent="0" marL="0">
              <a:buNone/>
            </a:pPr>
            <a:r>
              <a:rPr lang="en-US" sz="1400" dirty="0">
                <a:solidFill>
                  <a:schemeClr val="tx1"/>
                </a:solidFill>
              </a:rPr>
              <a:t>bills with no claim</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400" b="1" dirty="0">
                <a:solidFill>
                  <a:srgbClr val="0B3C49"/>
                </a:solidFill>
              </a:rPr>
              <a:t>Resources are even; staff records are not</a:t>
            </a:r>
            <a:endParaRPr lang="en-US" sz="3400" dirty="0"/>
          </a:p>
        </p:txBody>
      </p:sp>
      <p:graphicFrame>
        <p:nvGraphicFramePr>
          <p:cNvPr id="4" name="Chart 0" descr=""/>
          <p:cNvGraphicFramePr/>
          <p:nvPr/>
        </p:nvGraphicFramePr>
        <p:xfrm>
          <a:off x="548640" y="146304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760720"/>
            <a:ext cx="6949440" cy="457200"/>
          </a:xfrm>
          <a:prstGeom prst="rect">
            <a:avLst/>
          </a:prstGeom>
          <a:noFill/>
          <a:ln/>
        </p:spPr>
        <p:txBody>
          <a:bodyPr wrap="square" lIns="0" tIns="0" rIns="0" bIns="0" rtlCol="0" anchor="t"/>
          <a:lstStyle/>
          <a:p>
            <a:pPr indent="0" marL="0">
              <a:buNone/>
            </a:pPr>
            <a:r>
              <a:rPr lang="en-US" sz="1100" i="1" dirty="0">
                <a:solidFill>
                  <a:schemeClr val="accent5"/>
                </a:solidFill>
              </a:rPr>
              <a:t>Appointments per facility (department facility used)</a:t>
            </a:r>
            <a:endParaRPr lang="en-US" sz="1100" dirty="0"/>
          </a:p>
        </p:txBody>
      </p:sp>
      <p:sp>
        <p:nvSpPr>
          <p:cNvPr id="6" name="Shape 2"/>
          <p:cNvSpPr/>
          <p:nvPr/>
        </p:nvSpPr>
        <p:spPr>
          <a:xfrm>
            <a:off x="7955280" y="1463040"/>
            <a:ext cx="3657600" cy="1280160"/>
          </a:xfrm>
          <a:prstGeom prst="roundRect">
            <a:avLst>
              <a:gd name="adj" fmla="val 8571"/>
            </a:avLst>
          </a:prstGeom>
          <a:solidFill>
            <a:schemeClr val="bg2"/>
          </a:solidFill>
          <a:ln w="12700">
            <a:solidFill>
              <a:schemeClr val="bg2"/>
            </a:solidFill>
            <a:prstDash val="solid"/>
          </a:ln>
        </p:spPr>
      </p:sp>
      <p:sp>
        <p:nvSpPr>
          <p:cNvPr id="7" name="Text 3"/>
          <p:cNvSpPr txBox="1"/>
          <p:nvPr/>
        </p:nvSpPr>
        <p:spPr>
          <a:xfrm>
            <a:off x="8183880" y="1554480"/>
            <a:ext cx="3200400" cy="365760"/>
          </a:xfrm>
          <a:prstGeom prst="rect">
            <a:avLst/>
          </a:prstGeom>
          <a:noFill/>
          <a:ln/>
        </p:spPr>
        <p:txBody>
          <a:bodyPr wrap="square" lIns="0" tIns="0" rIns="0" bIns="0" rtlCol="0" anchor="ctr"/>
          <a:lstStyle/>
          <a:p>
            <a:pPr indent="0" marL="0">
              <a:buNone/>
            </a:pPr>
            <a:r>
              <a:rPr lang="en-US" sz="1800" b="1" dirty="0">
                <a:solidFill>
                  <a:schemeClr val="accent6"/>
                </a:solidFill>
              </a:rPr>
              <a:t>Even everywhere</a:t>
            </a:r>
            <a:endParaRPr lang="en-US" sz="1800" dirty="0"/>
          </a:p>
        </p:txBody>
      </p:sp>
      <p:sp>
        <p:nvSpPr>
          <p:cNvPr id="8" name="Text 4"/>
          <p:cNvSpPr txBox="1"/>
          <p:nvPr/>
        </p:nvSpPr>
        <p:spPr>
          <a:xfrm>
            <a:off x="8183880" y="1965960"/>
            <a:ext cx="3200400" cy="731520"/>
          </a:xfrm>
          <a:prstGeom prst="rect">
            <a:avLst/>
          </a:prstGeom>
          <a:noFill/>
          <a:ln/>
        </p:spPr>
        <p:txBody>
          <a:bodyPr wrap="square" lIns="0" tIns="0" rIns="0" bIns="0" rtlCol="0" anchor="t"/>
          <a:lstStyle/>
          <a:p>
            <a:pPr indent="0" marL="0">
              <a:buNone/>
            </a:pPr>
            <a:r>
              <a:rPr lang="en-US" sz="1400" dirty="0">
                <a:solidFill>
                  <a:schemeClr val="tx1"/>
                </a:solidFill>
              </a:rPr>
              <a:t>100 beds and 20 rooms per facility; equipment split evenly across 10 types</a:t>
            </a:r>
            <a:endParaRPr lang="en-US" sz="1400" dirty="0"/>
          </a:p>
        </p:txBody>
      </p:sp>
      <p:sp>
        <p:nvSpPr>
          <p:cNvPr id="9" name="Shape 5"/>
          <p:cNvSpPr/>
          <p:nvPr/>
        </p:nvSpPr>
        <p:spPr>
          <a:xfrm>
            <a:off x="7955280" y="2926080"/>
            <a:ext cx="3657600" cy="1280160"/>
          </a:xfrm>
          <a:prstGeom prst="roundRect">
            <a:avLst>
              <a:gd name="adj" fmla="val 8571"/>
            </a:avLst>
          </a:prstGeom>
          <a:solidFill>
            <a:schemeClr val="bg2"/>
          </a:solidFill>
          <a:ln w="12700">
            <a:solidFill>
              <a:schemeClr val="bg2"/>
            </a:solidFill>
            <a:prstDash val="solid"/>
          </a:ln>
        </p:spPr>
      </p:sp>
      <p:sp>
        <p:nvSpPr>
          <p:cNvPr id="10" name="Text 6"/>
          <p:cNvSpPr txBox="1"/>
          <p:nvPr/>
        </p:nvSpPr>
        <p:spPr>
          <a:xfrm>
            <a:off x="8183880" y="3017520"/>
            <a:ext cx="3200400" cy="365760"/>
          </a:xfrm>
          <a:prstGeom prst="rect">
            <a:avLst/>
          </a:prstGeom>
          <a:noFill/>
          <a:ln/>
        </p:spPr>
        <p:txBody>
          <a:bodyPr wrap="square" lIns="0" tIns="0" rIns="0" bIns="0" rtlCol="0" anchor="ctr"/>
          <a:lstStyle/>
          <a:p>
            <a:pPr indent="0" marL="0">
              <a:buNone/>
            </a:pPr>
            <a:r>
              <a:rPr lang="en-US" sz="1800" b="1" dirty="0">
                <a:solidFill>
                  <a:schemeClr val="accent6"/>
                </a:solidFill>
              </a:rPr>
              <a:t>Doctors: two answers</a:t>
            </a:r>
            <a:endParaRPr lang="en-US" sz="1800" dirty="0"/>
          </a:p>
        </p:txBody>
      </p:sp>
      <p:sp>
        <p:nvSpPr>
          <p:cNvPr id="11" name="Text 7"/>
          <p:cNvSpPr txBox="1"/>
          <p:nvPr/>
        </p:nvSpPr>
        <p:spPr>
          <a:xfrm>
            <a:off x="8183880" y="3429000"/>
            <a:ext cx="3200400" cy="731520"/>
          </a:xfrm>
          <a:prstGeom prst="rect">
            <a:avLst/>
          </a:prstGeom>
          <a:noFill/>
          <a:ln/>
        </p:spPr>
        <p:txBody>
          <a:bodyPr wrap="square" lIns="0" tIns="0" rIns="0" bIns="0" rtlCol="0" anchor="t"/>
          <a:lstStyle/>
          <a:p>
            <a:pPr indent="0" marL="0">
              <a:buNone/>
            </a:pPr>
            <a:r>
              <a:rPr lang="en-US" sz="1400" dirty="0">
                <a:solidFill>
                  <a:schemeClr val="tx1"/>
                </a:solidFill>
              </a:rPr>
              <a:t>17 to 18 per facility by FacilityID; 20 or 10 by department</a:t>
            </a:r>
            <a:endParaRPr lang="en-US" sz="1400" dirty="0"/>
          </a:p>
        </p:txBody>
      </p:sp>
      <p:sp>
        <p:nvSpPr>
          <p:cNvPr id="12" name="Shape 8"/>
          <p:cNvSpPr/>
          <p:nvPr/>
        </p:nvSpPr>
        <p:spPr>
          <a:xfrm>
            <a:off x="7955280" y="4389120"/>
            <a:ext cx="3657600" cy="1280160"/>
          </a:xfrm>
          <a:prstGeom prst="roundRect">
            <a:avLst>
              <a:gd name="adj" fmla="val 8571"/>
            </a:avLst>
          </a:prstGeom>
          <a:solidFill>
            <a:schemeClr val="bg2"/>
          </a:solidFill>
          <a:ln w="12700">
            <a:solidFill>
              <a:schemeClr val="bg2"/>
            </a:solidFill>
            <a:prstDash val="solid"/>
          </a:ln>
        </p:spPr>
      </p:sp>
      <p:sp>
        <p:nvSpPr>
          <p:cNvPr id="13" name="Text 9"/>
          <p:cNvSpPr txBox="1"/>
          <p:nvPr/>
        </p:nvSpPr>
        <p:spPr>
          <a:xfrm>
            <a:off x="8183880" y="4480560"/>
            <a:ext cx="3200400" cy="365760"/>
          </a:xfrm>
          <a:prstGeom prst="rect">
            <a:avLst/>
          </a:prstGeom>
          <a:noFill/>
          <a:ln/>
        </p:spPr>
        <p:txBody>
          <a:bodyPr wrap="square" lIns="0" tIns="0" rIns="0" bIns="0" rtlCol="0" anchor="ctr"/>
          <a:lstStyle/>
          <a:p>
            <a:pPr indent="0" marL="0">
              <a:buNone/>
            </a:pPr>
            <a:r>
              <a:rPr lang="en-US" sz="1800" b="1" dirty="0">
                <a:solidFill>
                  <a:schemeClr val="accent3"/>
                </a:solidFill>
              </a:rPr>
              <a:t>Records conflict</a:t>
            </a:r>
            <a:endParaRPr lang="en-US" sz="1800" dirty="0"/>
          </a:p>
        </p:txBody>
      </p:sp>
      <p:sp>
        <p:nvSpPr>
          <p:cNvPr id="14" name="Text 10"/>
          <p:cNvSpPr txBox="1"/>
          <p:nvPr/>
        </p:nvSpPr>
        <p:spPr>
          <a:xfrm>
            <a:off x="8183880" y="4892040"/>
            <a:ext cx="3200400" cy="731520"/>
          </a:xfrm>
          <a:prstGeom prst="rect">
            <a:avLst/>
          </a:prstGeom>
          <a:noFill/>
          <a:ln/>
        </p:spPr>
        <p:txBody>
          <a:bodyPr wrap="square" lIns="0" tIns="0" rIns="0" bIns="0" rtlCol="0" anchor="t"/>
          <a:lstStyle/>
          <a:p>
            <a:pPr indent="0" marL="0">
              <a:buNone/>
            </a:pPr>
            <a:r>
              <a:rPr lang="en-US" sz="1400" dirty="0">
                <a:solidFill>
                  <a:schemeClr val="tx1"/>
                </a:solidFill>
              </a:rPr>
              <a:t>1,187 of 1,250 staff have a FacilityID and DepartmentID that disagree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400" b="1" dirty="0">
                <a:solidFill>
                  <a:srgbClr val="0B3C49"/>
                </a:solidFill>
              </a:rPr>
              <a:t>Satisfaction is middling everywhere</a:t>
            </a:r>
            <a:endParaRPr lang="en-US" sz="3400" dirty="0"/>
          </a:p>
        </p:txBody>
      </p:sp>
      <p:graphicFrame>
        <p:nvGraphicFramePr>
          <p:cNvPr id="4" name="Chart 0" descr=""/>
          <p:cNvGraphicFramePr/>
          <p:nvPr/>
        </p:nvGraphicFramePr>
        <p:xfrm>
          <a:off x="548640" y="146304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760720"/>
            <a:ext cx="6949440" cy="457200"/>
          </a:xfrm>
          <a:prstGeom prst="rect">
            <a:avLst/>
          </a:prstGeom>
          <a:noFill/>
          <a:ln/>
        </p:spPr>
        <p:txBody>
          <a:bodyPr wrap="square" lIns="0" tIns="0" rIns="0" bIns="0" rtlCol="0" anchor="t"/>
          <a:lstStyle/>
          <a:p>
            <a:pPr indent="0" marL="0">
              <a:buNone/>
            </a:pPr>
            <a:r>
              <a:rPr lang="en-US" sz="1100" i="1" dirty="0">
                <a:solidFill>
                  <a:schemeClr val="accent5"/>
                </a:solidFill>
              </a:rPr>
              <a:t>Average rating by facility (1,756 appointment-linked responses)</a:t>
            </a:r>
            <a:endParaRPr lang="en-US" sz="1100" dirty="0"/>
          </a:p>
        </p:txBody>
      </p:sp>
      <p:sp>
        <p:nvSpPr>
          <p:cNvPr id="6" name="Card average, 21,064 responses"/>
          <p:cNvSpPr/>
          <p:nvPr/>
        </p:nvSpPr>
        <p:spPr>
          <a:xfrm>
            <a:off x="7955280" y="1463040"/>
            <a:ext cx="3657600" cy="1371600"/>
          </a:xfrm>
          <a:prstGeom prst="roundRect">
            <a:avLst>
              <a:gd name="adj" fmla="val 8000"/>
            </a:avLst>
          </a:prstGeom>
          <a:solidFill>
            <a:schemeClr val="bg2"/>
          </a:solidFill>
          <a:ln w="12700">
            <a:solidFill>
              <a:schemeClr val="bg2"/>
            </a:solidFill>
            <a:prstDash val="solid"/>
          </a:ln>
        </p:spPr>
      </p:sp>
      <p:sp>
        <p:nvSpPr>
          <p:cNvPr id="7" name="Text 3"/>
          <p:cNvSpPr txBox="1"/>
          <p:nvPr/>
        </p:nvSpPr>
        <p:spPr>
          <a:xfrm>
            <a:off x="8183880" y="1600200"/>
            <a:ext cx="3200400" cy="713232"/>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2.99 / 5</a:t>
            </a:r>
            <a:endParaRPr lang="en-US" sz="3800" dirty="0"/>
          </a:p>
        </p:txBody>
      </p:sp>
      <p:sp>
        <p:nvSpPr>
          <p:cNvPr id="8" name="Text 4"/>
          <p:cNvSpPr txBox="1"/>
          <p:nvPr/>
        </p:nvSpPr>
        <p:spPr>
          <a:xfrm>
            <a:off x="8183880" y="2359152"/>
            <a:ext cx="3200400" cy="548640"/>
          </a:xfrm>
          <a:prstGeom prst="rect">
            <a:avLst/>
          </a:prstGeom>
          <a:noFill/>
          <a:ln/>
        </p:spPr>
        <p:txBody>
          <a:bodyPr wrap="square" lIns="0" tIns="0" rIns="0" bIns="0" rtlCol="0" anchor="t"/>
          <a:lstStyle/>
          <a:p>
            <a:pPr indent="0" marL="0">
              <a:buNone/>
            </a:pPr>
            <a:r>
              <a:rPr lang="en-US" sz="1400" dirty="0">
                <a:solidFill>
                  <a:schemeClr val="tx1"/>
                </a:solidFill>
              </a:rPr>
              <a:t>average, 21,064 responses</a:t>
            </a:r>
            <a:endParaRPr lang="en-US" sz="1400" dirty="0"/>
          </a:p>
        </p:txBody>
      </p:sp>
      <p:sp>
        <p:nvSpPr>
          <p:cNvPr id="9" name="Card rated 1 or 2"/>
          <p:cNvSpPr/>
          <p:nvPr/>
        </p:nvSpPr>
        <p:spPr>
          <a:xfrm>
            <a:off x="7955280" y="3017520"/>
            <a:ext cx="3657600" cy="1371600"/>
          </a:xfrm>
          <a:prstGeom prst="roundRect">
            <a:avLst>
              <a:gd name="adj" fmla="val 8000"/>
            </a:avLst>
          </a:prstGeom>
          <a:solidFill>
            <a:schemeClr val="bg2"/>
          </a:solidFill>
          <a:ln w="12700">
            <a:solidFill>
              <a:schemeClr val="bg2"/>
            </a:solidFill>
            <a:prstDash val="solid"/>
          </a:ln>
        </p:spPr>
      </p:sp>
      <p:sp>
        <p:nvSpPr>
          <p:cNvPr id="10" name="Text 6"/>
          <p:cNvSpPr txBox="1"/>
          <p:nvPr/>
        </p:nvSpPr>
        <p:spPr>
          <a:xfrm>
            <a:off x="8183880" y="3154680"/>
            <a:ext cx="3200400" cy="713232"/>
          </a:xfrm>
          <a:prstGeom prst="rect">
            <a:avLst/>
          </a:prstGeom>
          <a:noFill/>
          <a:ln/>
        </p:spPr>
        <p:txBody>
          <a:bodyPr wrap="square" lIns="0" tIns="0" rIns="0" bIns="0" rtlCol="0" anchor="b"/>
          <a:lstStyle/>
          <a:p>
            <a:pPr indent="0" marL="0">
              <a:buNone/>
            </a:pPr>
            <a:r>
              <a:rPr lang="en-US" sz="3800" b="1" dirty="0">
                <a:solidFill>
                  <a:schemeClr val="accent3"/>
                </a:solidFill>
                <a:latin typeface="Cambria" pitchFamily="34" charset="0"/>
                <a:ea typeface="Cambria" pitchFamily="34" charset="-122"/>
                <a:cs typeface="Cambria" pitchFamily="34" charset="-120"/>
              </a:rPr>
              <a:t>40.44%</a:t>
            </a:r>
            <a:endParaRPr lang="en-US" sz="3800" dirty="0"/>
          </a:p>
        </p:txBody>
      </p:sp>
      <p:sp>
        <p:nvSpPr>
          <p:cNvPr id="11" name="Text 7"/>
          <p:cNvSpPr txBox="1"/>
          <p:nvPr/>
        </p:nvSpPr>
        <p:spPr>
          <a:xfrm>
            <a:off x="8183880" y="3913632"/>
            <a:ext cx="3200400" cy="548640"/>
          </a:xfrm>
          <a:prstGeom prst="rect">
            <a:avLst/>
          </a:prstGeom>
          <a:noFill/>
          <a:ln/>
        </p:spPr>
        <p:txBody>
          <a:bodyPr wrap="square" lIns="0" tIns="0" rIns="0" bIns="0" rtlCol="0" anchor="t"/>
          <a:lstStyle/>
          <a:p>
            <a:pPr indent="0" marL="0">
              <a:buNone/>
            </a:pPr>
            <a:r>
              <a:rPr lang="en-US" sz="1400" dirty="0">
                <a:solidFill>
                  <a:schemeClr val="tx1"/>
                </a:solidFill>
              </a:rPr>
              <a:t>rated 1 or 2</a:t>
            </a:r>
            <a:endParaRPr lang="en-US" sz="1400" dirty="0"/>
          </a:p>
        </p:txBody>
      </p:sp>
      <p:sp>
        <p:nvSpPr>
          <p:cNvPr id="12" name="Card rated 5"/>
          <p:cNvSpPr/>
          <p:nvPr/>
        </p:nvSpPr>
        <p:spPr>
          <a:xfrm>
            <a:off x="7955280" y="4572000"/>
            <a:ext cx="3657600" cy="1371600"/>
          </a:xfrm>
          <a:prstGeom prst="roundRect">
            <a:avLst>
              <a:gd name="adj" fmla="val 8000"/>
            </a:avLst>
          </a:prstGeom>
          <a:solidFill>
            <a:schemeClr val="bg2"/>
          </a:solidFill>
          <a:ln w="12700">
            <a:solidFill>
              <a:schemeClr val="bg2"/>
            </a:solidFill>
            <a:prstDash val="solid"/>
          </a:ln>
        </p:spPr>
      </p:sp>
      <p:sp>
        <p:nvSpPr>
          <p:cNvPr id="13" name="Text 9"/>
          <p:cNvSpPr txBox="1"/>
          <p:nvPr/>
        </p:nvSpPr>
        <p:spPr>
          <a:xfrm>
            <a:off x="8183880" y="4709160"/>
            <a:ext cx="3200400" cy="713232"/>
          </a:xfrm>
          <a:prstGeom prst="rect">
            <a:avLst/>
          </a:prstGeom>
          <a:noFill/>
          <a:ln/>
        </p:spPr>
        <p:txBody>
          <a:bodyPr wrap="square" lIns="0" tIns="0" rIns="0" bIns="0" rtlCol="0" anchor="b"/>
          <a:lstStyle/>
          <a:p>
            <a:pPr indent="0" marL="0">
              <a:buNone/>
            </a:pPr>
            <a:r>
              <a:rPr lang="en-US" sz="3800" b="1" dirty="0">
                <a:solidFill>
                  <a:schemeClr val="accent4"/>
                </a:solidFill>
                <a:latin typeface="Cambria" pitchFamily="34" charset="0"/>
                <a:ea typeface="Cambria" pitchFamily="34" charset="-122"/>
                <a:cs typeface="Cambria" pitchFamily="34" charset="-120"/>
              </a:rPr>
              <a:t>19.70%</a:t>
            </a:r>
            <a:endParaRPr lang="en-US" sz="3800" dirty="0"/>
          </a:p>
        </p:txBody>
      </p:sp>
      <p:sp>
        <p:nvSpPr>
          <p:cNvPr id="14" name="Text 10"/>
          <p:cNvSpPr txBox="1"/>
          <p:nvPr/>
        </p:nvSpPr>
        <p:spPr>
          <a:xfrm>
            <a:off x="8183880" y="5468112"/>
            <a:ext cx="3200400" cy="548640"/>
          </a:xfrm>
          <a:prstGeom prst="rect">
            <a:avLst/>
          </a:prstGeom>
          <a:noFill/>
          <a:ln/>
        </p:spPr>
        <p:txBody>
          <a:bodyPr wrap="square" lIns="0" tIns="0" rIns="0" bIns="0" rtlCol="0" anchor="t"/>
          <a:lstStyle/>
          <a:p>
            <a:pPr indent="0" marL="0">
              <a:buNone/>
            </a:pPr>
            <a:r>
              <a:rPr lang="en-US" sz="1400" dirty="0">
                <a:solidFill>
                  <a:schemeClr val="tx1"/>
                </a:solidFill>
              </a:rPr>
              <a:t>rated 5</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400" b="1" dirty="0">
                <a:solidFill>
                  <a:srgbClr val="0B3C49"/>
                </a:solidFill>
              </a:rPr>
              <a:t>Recommendations</a:t>
            </a:r>
            <a:endParaRPr lang="en-US" sz="3400" dirty="0"/>
          </a:p>
        </p:txBody>
      </p:sp>
      <p:sp>
        <p:nvSpPr>
          <p:cNvPr id="4" name="Shape 1"/>
          <p:cNvSpPr/>
          <p:nvPr/>
        </p:nvSpPr>
        <p:spPr>
          <a:xfrm>
            <a:off x="548640" y="1554480"/>
            <a:ext cx="3566160" cy="2194560"/>
          </a:xfrm>
          <a:prstGeom prst="roundRect">
            <a:avLst>
              <a:gd name="adj" fmla="val 5000"/>
            </a:avLst>
          </a:prstGeom>
          <a:solidFill>
            <a:schemeClr val="bg2"/>
          </a:solidFill>
          <a:ln w="12700">
            <a:solidFill>
              <a:schemeClr val="bg2"/>
            </a:solidFill>
            <a:prstDash val="solid"/>
          </a:ln>
        </p:spPr>
      </p:sp>
      <p:sp>
        <p:nvSpPr>
          <p:cNvPr id="5" name="Shape 2"/>
          <p:cNvSpPr/>
          <p:nvPr/>
        </p:nvSpPr>
        <p:spPr>
          <a:xfrm>
            <a:off x="777240" y="1783080"/>
            <a:ext cx="502920" cy="502920"/>
          </a:xfrm>
          <a:prstGeom prst="ellipse">
            <a:avLst/>
          </a:prstGeom>
          <a:solidFill>
            <a:schemeClr val="accent3"/>
          </a:solidFill>
          <a:ln w="12700">
            <a:solidFill>
              <a:schemeClr val="accent3"/>
            </a:solidFill>
            <a:prstDash val="solid"/>
          </a:ln>
        </p:spPr>
      </p:sp>
      <p:sp>
        <p:nvSpPr>
          <p:cNvPr id="6" name="Text 3"/>
          <p:cNvSpPr txBox="1"/>
          <p:nvPr/>
        </p:nvSpPr>
        <p:spPr>
          <a:xfrm>
            <a:off x="77724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417320" y="1783080"/>
            <a:ext cx="2560320" cy="502920"/>
          </a:xfrm>
          <a:prstGeom prst="rect">
            <a:avLst/>
          </a:prstGeom>
          <a:noFill/>
          <a:ln/>
        </p:spPr>
        <p:txBody>
          <a:bodyPr wrap="square" lIns="0" tIns="0" rIns="0" bIns="0" rtlCol="0" anchor="ctr"/>
          <a:lstStyle/>
          <a:p>
            <a:pPr indent="0" marL="0">
              <a:buNone/>
            </a:pPr>
            <a:r>
              <a:rPr lang="en-US" sz="1800" b="1" dirty="0">
                <a:solidFill>
                  <a:schemeClr val="accent6"/>
                </a:solidFill>
              </a:rPr>
              <a:t>Fix staff records</a:t>
            </a:r>
            <a:endParaRPr lang="en-US" sz="1800" dirty="0"/>
          </a:p>
        </p:txBody>
      </p:sp>
      <p:sp>
        <p:nvSpPr>
          <p:cNvPr id="8" name="Text 5"/>
          <p:cNvSpPr txBox="1"/>
          <p:nvPr/>
        </p:nvSpPr>
        <p:spPr>
          <a:xfrm>
            <a:off x="777240" y="2423160"/>
            <a:ext cx="3108960" cy="1234440"/>
          </a:xfrm>
          <a:prstGeom prst="rect">
            <a:avLst/>
          </a:prstGeom>
          <a:noFill/>
          <a:ln/>
        </p:spPr>
        <p:txBody>
          <a:bodyPr wrap="square" lIns="0" tIns="0" rIns="0" bIns="0" rtlCol="0" anchor="t"/>
          <a:lstStyle/>
          <a:p>
            <a:pPr indent="0" marL="0">
              <a:buNone/>
            </a:pPr>
            <a:r>
              <a:rPr lang="en-US" sz="1400" dirty="0">
                <a:solidFill>
                  <a:schemeClr val="tx1"/>
                </a:solidFill>
              </a:rPr>
              <a:t>Give each person one facility and department, then re-run the staffing analysis before moving doctors.</a:t>
            </a:r>
            <a:endParaRPr lang="en-US" sz="1400" dirty="0"/>
          </a:p>
        </p:txBody>
      </p:sp>
      <p:sp>
        <p:nvSpPr>
          <p:cNvPr id="9" name="Shape 6"/>
          <p:cNvSpPr/>
          <p:nvPr/>
        </p:nvSpPr>
        <p:spPr>
          <a:xfrm>
            <a:off x="4343400" y="1554480"/>
            <a:ext cx="3566160" cy="2194560"/>
          </a:xfrm>
          <a:prstGeom prst="roundRect">
            <a:avLst>
              <a:gd name="adj" fmla="val 5000"/>
            </a:avLst>
          </a:prstGeom>
          <a:solidFill>
            <a:schemeClr val="bg2"/>
          </a:solidFill>
          <a:ln w="12700">
            <a:solidFill>
              <a:schemeClr val="bg2"/>
            </a:solidFill>
            <a:prstDash val="solid"/>
          </a:ln>
        </p:spPr>
      </p:sp>
      <p:sp>
        <p:nvSpPr>
          <p:cNvPr id="10" name="Shape 7"/>
          <p:cNvSpPr/>
          <p:nvPr/>
        </p:nvSpPr>
        <p:spPr>
          <a:xfrm>
            <a:off x="4572000" y="1783080"/>
            <a:ext cx="502920" cy="502920"/>
          </a:xfrm>
          <a:prstGeom prst="ellipse">
            <a:avLst/>
          </a:prstGeom>
          <a:solidFill>
            <a:schemeClr val="accent3"/>
          </a:solidFill>
          <a:ln w="12700">
            <a:solidFill>
              <a:schemeClr val="accent3"/>
            </a:solidFill>
            <a:prstDash val="solid"/>
          </a:ln>
        </p:spPr>
      </p:sp>
      <p:sp>
        <p:nvSpPr>
          <p:cNvPr id="11" name="Text 8"/>
          <p:cNvSpPr txBox="1"/>
          <p:nvPr/>
        </p:nvSpPr>
        <p:spPr>
          <a:xfrm>
            <a:off x="457200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5212080" y="1783080"/>
            <a:ext cx="2560320" cy="502920"/>
          </a:xfrm>
          <a:prstGeom prst="rect">
            <a:avLst/>
          </a:prstGeom>
          <a:noFill/>
          <a:ln/>
        </p:spPr>
        <p:txBody>
          <a:bodyPr wrap="square" lIns="0" tIns="0" rIns="0" bIns="0" rtlCol="0" anchor="ctr"/>
          <a:lstStyle/>
          <a:p>
            <a:pPr indent="0" marL="0">
              <a:buNone/>
            </a:pPr>
            <a:r>
              <a:rPr lang="en-US" sz="1800" b="1" dirty="0">
                <a:solidFill>
                  <a:schemeClr val="accent6"/>
                </a:solidFill>
              </a:rPr>
              <a:t>Link money to visits</a:t>
            </a:r>
            <a:endParaRPr lang="en-US" sz="1800" dirty="0"/>
          </a:p>
        </p:txBody>
      </p:sp>
      <p:sp>
        <p:nvSpPr>
          <p:cNvPr id="13" name="Text 10"/>
          <p:cNvSpPr txBox="1"/>
          <p:nvPr/>
        </p:nvSpPr>
        <p:spPr>
          <a:xfrm>
            <a:off x="4572000" y="2423160"/>
            <a:ext cx="3108960" cy="1234440"/>
          </a:xfrm>
          <a:prstGeom prst="rect">
            <a:avLst/>
          </a:prstGeom>
          <a:noFill/>
          <a:ln/>
        </p:spPr>
        <p:txBody>
          <a:bodyPr wrap="square" lIns="0" tIns="0" rIns="0" bIns="0" rtlCol="0" anchor="t"/>
          <a:lstStyle/>
          <a:p>
            <a:pPr indent="0" marL="0">
              <a:buNone/>
            </a:pPr>
            <a:r>
              <a:rPr lang="en-US" sz="1400" dirty="0">
                <a:solidFill>
                  <a:schemeClr val="tx1"/>
                </a:solidFill>
              </a:rPr>
              <a:t>Tie every bill and payment to an appointment and reconcile the Revenue Summary.</a:t>
            </a:r>
            <a:endParaRPr lang="en-US" sz="1400" dirty="0"/>
          </a:p>
        </p:txBody>
      </p:sp>
      <p:sp>
        <p:nvSpPr>
          <p:cNvPr id="14" name="Shape 11"/>
          <p:cNvSpPr/>
          <p:nvPr/>
        </p:nvSpPr>
        <p:spPr>
          <a:xfrm>
            <a:off x="8138160" y="1554480"/>
            <a:ext cx="3566160" cy="2194560"/>
          </a:xfrm>
          <a:prstGeom prst="roundRect">
            <a:avLst>
              <a:gd name="adj" fmla="val 5000"/>
            </a:avLst>
          </a:prstGeom>
          <a:solidFill>
            <a:schemeClr val="bg2"/>
          </a:solidFill>
          <a:ln w="12700">
            <a:solidFill>
              <a:schemeClr val="bg2"/>
            </a:solidFill>
            <a:prstDash val="solid"/>
          </a:ln>
        </p:spPr>
      </p:sp>
      <p:sp>
        <p:nvSpPr>
          <p:cNvPr id="15" name="Shape 12"/>
          <p:cNvSpPr/>
          <p:nvPr/>
        </p:nvSpPr>
        <p:spPr>
          <a:xfrm>
            <a:off x="8366760" y="1783080"/>
            <a:ext cx="502920" cy="502920"/>
          </a:xfrm>
          <a:prstGeom prst="ellipse">
            <a:avLst/>
          </a:prstGeom>
          <a:solidFill>
            <a:schemeClr val="accent1"/>
          </a:solidFill>
          <a:ln w="12700">
            <a:solidFill>
              <a:schemeClr val="accent1"/>
            </a:solidFill>
            <a:prstDash val="solid"/>
          </a:ln>
        </p:spPr>
      </p:sp>
      <p:sp>
        <p:nvSpPr>
          <p:cNvPr id="16" name="Text 13"/>
          <p:cNvSpPr txBox="1"/>
          <p:nvPr/>
        </p:nvSpPr>
        <p:spPr>
          <a:xfrm>
            <a:off x="836676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9006840" y="1783080"/>
            <a:ext cx="2560320" cy="502920"/>
          </a:xfrm>
          <a:prstGeom prst="rect">
            <a:avLst/>
          </a:prstGeom>
          <a:noFill/>
          <a:ln/>
        </p:spPr>
        <p:txBody>
          <a:bodyPr wrap="square" lIns="0" tIns="0" rIns="0" bIns="0" rtlCol="0" anchor="ctr"/>
          <a:lstStyle/>
          <a:p>
            <a:pPr indent="0" marL="0">
              <a:buNone/>
            </a:pPr>
            <a:r>
              <a:rPr lang="en-US" sz="1800" b="1" dirty="0">
                <a:solidFill>
                  <a:schemeClr val="accent6"/>
                </a:solidFill>
              </a:rPr>
              <a:t>Chase unpaid bills</a:t>
            </a:r>
            <a:endParaRPr lang="en-US" sz="1800" dirty="0"/>
          </a:p>
        </p:txBody>
      </p:sp>
      <p:sp>
        <p:nvSpPr>
          <p:cNvPr id="18" name="Text 15"/>
          <p:cNvSpPr txBox="1"/>
          <p:nvPr/>
        </p:nvSpPr>
        <p:spPr>
          <a:xfrm>
            <a:off x="8366760" y="2423160"/>
            <a:ext cx="3108960" cy="1234440"/>
          </a:xfrm>
          <a:prstGeom prst="rect">
            <a:avLst/>
          </a:prstGeom>
          <a:noFill/>
          <a:ln/>
        </p:spPr>
        <p:txBody>
          <a:bodyPr wrap="square" lIns="0" tIns="0" rIns="0" bIns="0" rtlCol="0" anchor="t"/>
          <a:lstStyle/>
          <a:p>
            <a:pPr indent="0" marL="0">
              <a:buNone/>
            </a:pPr>
            <a:r>
              <a:rPr lang="en-US" sz="1400" dirty="0">
                <a:solidFill>
                  <a:schemeClr val="tx1"/>
                </a:solidFill>
              </a:rPr>
              <a:t>Standardise bill status; follow up RWF 919.9M outstanding and 17,964 bills with no claim.</a:t>
            </a:r>
            <a:endParaRPr lang="en-US" sz="1400" dirty="0"/>
          </a:p>
        </p:txBody>
      </p:sp>
      <p:sp>
        <p:nvSpPr>
          <p:cNvPr id="19" name="Shape 16"/>
          <p:cNvSpPr/>
          <p:nvPr/>
        </p:nvSpPr>
        <p:spPr>
          <a:xfrm>
            <a:off x="548640" y="3931920"/>
            <a:ext cx="3566160" cy="2194560"/>
          </a:xfrm>
          <a:prstGeom prst="roundRect">
            <a:avLst>
              <a:gd name="adj" fmla="val 5000"/>
            </a:avLst>
          </a:prstGeom>
          <a:solidFill>
            <a:schemeClr val="bg2"/>
          </a:solidFill>
          <a:ln w="12700">
            <a:solidFill>
              <a:schemeClr val="bg2"/>
            </a:solidFill>
            <a:prstDash val="solid"/>
          </a:ln>
        </p:spPr>
      </p:sp>
      <p:sp>
        <p:nvSpPr>
          <p:cNvPr id="20" name="Shape 17"/>
          <p:cNvSpPr/>
          <p:nvPr/>
        </p:nvSpPr>
        <p:spPr>
          <a:xfrm>
            <a:off x="777240" y="4160520"/>
            <a:ext cx="502920" cy="502920"/>
          </a:xfrm>
          <a:prstGeom prst="ellipse">
            <a:avLst/>
          </a:prstGeom>
          <a:solidFill>
            <a:schemeClr val="accent1"/>
          </a:solidFill>
          <a:ln w="12700">
            <a:solidFill>
              <a:schemeClr val="accent1"/>
            </a:solidFill>
            <a:prstDash val="solid"/>
          </a:ln>
        </p:spPr>
      </p:sp>
      <p:sp>
        <p:nvSpPr>
          <p:cNvPr id="21" name="Text 18"/>
          <p:cNvSpPr txBox="1"/>
          <p:nvPr/>
        </p:nvSpPr>
        <p:spPr>
          <a:xfrm>
            <a:off x="777240" y="4160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1417320" y="4160520"/>
            <a:ext cx="2560320" cy="502920"/>
          </a:xfrm>
          <a:prstGeom prst="rect">
            <a:avLst/>
          </a:prstGeom>
          <a:noFill/>
          <a:ln/>
        </p:spPr>
        <p:txBody>
          <a:bodyPr wrap="square" lIns="0" tIns="0" rIns="0" bIns="0" rtlCol="0" anchor="ctr"/>
          <a:lstStyle/>
          <a:p>
            <a:pPr indent="0" marL="0">
              <a:buNone/>
            </a:pPr>
            <a:r>
              <a:rPr lang="en-US" sz="1800" b="1" dirty="0">
                <a:solidFill>
                  <a:schemeClr val="accent6"/>
                </a:solidFill>
              </a:rPr>
              <a:t>Clear pending claims</a:t>
            </a:r>
            <a:endParaRPr lang="en-US" sz="1800" dirty="0"/>
          </a:p>
        </p:txBody>
      </p:sp>
      <p:sp>
        <p:nvSpPr>
          <p:cNvPr id="23" name="Text 20"/>
          <p:cNvSpPr txBox="1"/>
          <p:nvPr/>
        </p:nvSpPr>
        <p:spPr>
          <a:xfrm>
            <a:off x="777240" y="4800600"/>
            <a:ext cx="3108960" cy="1234440"/>
          </a:xfrm>
          <a:prstGeom prst="rect">
            <a:avLst/>
          </a:prstGeom>
          <a:noFill/>
          <a:ln/>
        </p:spPr>
        <p:txBody>
          <a:bodyPr wrap="square" lIns="0" tIns="0" rIns="0" bIns="0" rtlCol="0" anchor="t"/>
          <a:lstStyle/>
          <a:p>
            <a:pPr indent="0" marL="0">
              <a:buNone/>
            </a:pPr>
            <a:r>
              <a:rPr lang="en-US" sz="1400" dirty="0">
                <a:solidFill>
                  <a:schemeClr val="tx1"/>
                </a:solidFill>
              </a:rPr>
              <a:t>21,028 claims, half of all filed, are still pending.</a:t>
            </a:r>
            <a:endParaRPr lang="en-US" sz="1400" dirty="0"/>
          </a:p>
        </p:txBody>
      </p:sp>
      <p:sp>
        <p:nvSpPr>
          <p:cNvPr id="24" name="Shape 21"/>
          <p:cNvSpPr/>
          <p:nvPr/>
        </p:nvSpPr>
        <p:spPr>
          <a:xfrm>
            <a:off x="4343400" y="3931920"/>
            <a:ext cx="3566160" cy="2194560"/>
          </a:xfrm>
          <a:prstGeom prst="roundRect">
            <a:avLst>
              <a:gd name="adj" fmla="val 5000"/>
            </a:avLst>
          </a:prstGeom>
          <a:solidFill>
            <a:schemeClr val="bg2"/>
          </a:solidFill>
          <a:ln w="12700">
            <a:solidFill>
              <a:schemeClr val="bg2"/>
            </a:solidFill>
            <a:prstDash val="solid"/>
          </a:ln>
        </p:spPr>
      </p:sp>
      <p:sp>
        <p:nvSpPr>
          <p:cNvPr id="25" name="Shape 22"/>
          <p:cNvSpPr/>
          <p:nvPr/>
        </p:nvSpPr>
        <p:spPr>
          <a:xfrm>
            <a:off x="4572000" y="4160520"/>
            <a:ext cx="502920" cy="502920"/>
          </a:xfrm>
          <a:prstGeom prst="ellipse">
            <a:avLst/>
          </a:prstGeom>
          <a:solidFill>
            <a:schemeClr val="accent1"/>
          </a:solidFill>
          <a:ln w="12700">
            <a:solidFill>
              <a:schemeClr val="accent1"/>
            </a:solidFill>
            <a:prstDash val="solid"/>
          </a:ln>
        </p:spPr>
      </p:sp>
      <p:sp>
        <p:nvSpPr>
          <p:cNvPr id="26" name="Text 23"/>
          <p:cNvSpPr txBox="1"/>
          <p:nvPr/>
        </p:nvSpPr>
        <p:spPr>
          <a:xfrm>
            <a:off x="4572000" y="4160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 24"/>
          <p:cNvSpPr txBox="1"/>
          <p:nvPr/>
        </p:nvSpPr>
        <p:spPr>
          <a:xfrm>
            <a:off x="5212080" y="4160520"/>
            <a:ext cx="2560320" cy="502920"/>
          </a:xfrm>
          <a:prstGeom prst="rect">
            <a:avLst/>
          </a:prstGeom>
          <a:noFill/>
          <a:ln/>
        </p:spPr>
        <p:txBody>
          <a:bodyPr wrap="square" lIns="0" tIns="0" rIns="0" bIns="0" rtlCol="0" anchor="ctr"/>
          <a:lstStyle/>
          <a:p>
            <a:pPr indent="0" marL="0">
              <a:buNone/>
            </a:pPr>
            <a:r>
              <a:rPr lang="en-US" sz="1800" b="1" dirty="0">
                <a:solidFill>
                  <a:schemeClr val="accent6"/>
                </a:solidFill>
              </a:rPr>
              <a:t>Act on feedback</a:t>
            </a:r>
            <a:endParaRPr lang="en-US" sz="1800" dirty="0"/>
          </a:p>
        </p:txBody>
      </p:sp>
      <p:sp>
        <p:nvSpPr>
          <p:cNvPr id="28" name="Text 25"/>
          <p:cNvSpPr txBox="1"/>
          <p:nvPr/>
        </p:nvSpPr>
        <p:spPr>
          <a:xfrm>
            <a:off x="4572000" y="4800600"/>
            <a:ext cx="3108960" cy="1234440"/>
          </a:xfrm>
          <a:prstGeom prst="rect">
            <a:avLst/>
          </a:prstGeom>
          <a:noFill/>
          <a:ln/>
        </p:spPr>
        <p:txBody>
          <a:bodyPr wrap="square" lIns="0" tIns="0" rIns="0" bIns="0" rtlCol="0" anchor="t"/>
          <a:lstStyle/>
          <a:p>
            <a:pPr indent="0" marL="0">
              <a:buNone/>
            </a:pPr>
            <a:r>
              <a:rPr lang="en-US" sz="1400" dirty="0">
                <a:solidFill>
                  <a:schemeClr val="tx1"/>
                </a:solidFill>
              </a:rPr>
              <a:t>Follow up low ratings and track the share at 1 or 2 monthly; aim below 30%.</a:t>
            </a:r>
            <a:endParaRPr lang="en-US" sz="1400" dirty="0"/>
          </a:p>
        </p:txBody>
      </p:sp>
      <p:sp>
        <p:nvSpPr>
          <p:cNvPr id="29" name="Shape 26"/>
          <p:cNvSpPr/>
          <p:nvPr/>
        </p:nvSpPr>
        <p:spPr>
          <a:xfrm>
            <a:off x="8138160" y="3931920"/>
            <a:ext cx="3566160" cy="2194560"/>
          </a:xfrm>
          <a:prstGeom prst="roundRect">
            <a:avLst>
              <a:gd name="adj" fmla="val 5000"/>
            </a:avLst>
          </a:prstGeom>
          <a:solidFill>
            <a:schemeClr val="bg2"/>
          </a:solidFill>
          <a:ln w="12700">
            <a:solidFill>
              <a:schemeClr val="bg2"/>
            </a:solidFill>
            <a:prstDash val="solid"/>
          </a:ln>
        </p:spPr>
      </p:sp>
      <p:sp>
        <p:nvSpPr>
          <p:cNvPr id="30" name="Shape 27"/>
          <p:cNvSpPr/>
          <p:nvPr/>
        </p:nvSpPr>
        <p:spPr>
          <a:xfrm>
            <a:off x="8366760" y="4160520"/>
            <a:ext cx="502920" cy="502920"/>
          </a:xfrm>
          <a:prstGeom prst="ellipse">
            <a:avLst/>
          </a:prstGeom>
          <a:solidFill>
            <a:schemeClr val="accent1"/>
          </a:solidFill>
          <a:ln w="12700">
            <a:solidFill>
              <a:schemeClr val="accent1"/>
            </a:solidFill>
            <a:prstDash val="solid"/>
          </a:ln>
        </p:spPr>
      </p:sp>
      <p:sp>
        <p:nvSpPr>
          <p:cNvPr id="31" name="Text 28"/>
          <p:cNvSpPr txBox="1"/>
          <p:nvPr/>
        </p:nvSpPr>
        <p:spPr>
          <a:xfrm>
            <a:off x="8366760" y="4160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2" name="Text 29"/>
          <p:cNvSpPr txBox="1"/>
          <p:nvPr/>
        </p:nvSpPr>
        <p:spPr>
          <a:xfrm>
            <a:off x="9006840" y="4160520"/>
            <a:ext cx="2560320" cy="502920"/>
          </a:xfrm>
          <a:prstGeom prst="rect">
            <a:avLst/>
          </a:prstGeom>
          <a:noFill/>
          <a:ln/>
        </p:spPr>
        <p:txBody>
          <a:bodyPr wrap="square" lIns="0" tIns="0" rIns="0" bIns="0" rtlCol="0" anchor="ctr"/>
          <a:lstStyle/>
          <a:p>
            <a:pPr indent="0" marL="0">
              <a:buNone/>
            </a:pPr>
            <a:r>
              <a:rPr lang="en-US" sz="1800" b="1" dirty="0">
                <a:solidFill>
                  <a:schemeClr val="accent6"/>
                </a:solidFill>
              </a:rPr>
              <a:t>Capture missing data</a:t>
            </a:r>
            <a:endParaRPr lang="en-US" sz="1800" dirty="0"/>
          </a:p>
        </p:txBody>
      </p:sp>
      <p:sp>
        <p:nvSpPr>
          <p:cNvPr id="33" name="Text 30"/>
          <p:cNvSpPr txBox="1"/>
          <p:nvPr/>
        </p:nvSpPr>
        <p:spPr>
          <a:xfrm>
            <a:off x="8366760" y="4800600"/>
            <a:ext cx="3108960" cy="1234440"/>
          </a:xfrm>
          <a:prstGeom prst="rect">
            <a:avLst/>
          </a:prstGeom>
          <a:noFill/>
          <a:ln/>
        </p:spPr>
        <p:txBody>
          <a:bodyPr wrap="square" lIns="0" tIns="0" rIns="0" bIns="0" rtlCol="0" anchor="t"/>
          <a:lstStyle/>
          <a:p>
            <a:pPr indent="0" marL="0">
              <a:buNone/>
            </a:pPr>
            <a:r>
              <a:rPr lang="en-US" sz="1400" dirty="0">
                <a:solidFill>
                  <a:schemeClr val="tx1"/>
                </a:solidFill>
              </a:rPr>
              <a:t>Add admissions, laboratory, prescriptions, referrals, facility and insurance masters.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F6A7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31520" y="1097280"/>
            <a:ext cx="731520" cy="731520"/>
          </a:xfrm>
          <a:prstGeom prst="roundRect">
            <a:avLst>
              <a:gd name="adj" fmla="val 20000"/>
            </a:avLst>
          </a:prstGeom>
          <a:solidFill>
            <a:schemeClr val="accent3"/>
          </a:solidFill>
          <a:ln w="12700">
            <a:solidFill>
              <a:schemeClr val="accent3"/>
            </a:solidFill>
            <a:prstDash val="solid"/>
          </a:ln>
        </p:spPr>
      </p:sp>
      <p:sp>
        <p:nvSpPr>
          <p:cNvPr id="3" name="Shape 1"/>
          <p:cNvSpPr/>
          <p:nvPr/>
        </p:nvSpPr>
        <p:spPr>
          <a:xfrm>
            <a:off x="1024128" y="1243584"/>
            <a:ext cx="146304" cy="438912"/>
          </a:xfrm>
          <a:prstGeom prst="rect">
            <a:avLst/>
          </a:prstGeom>
          <a:solidFill>
            <a:schemeClr val="bg1"/>
          </a:solidFill>
          <a:ln w="12700">
            <a:solidFill>
              <a:schemeClr val="bg1"/>
            </a:solidFill>
            <a:prstDash val="solid"/>
          </a:ln>
        </p:spPr>
      </p:sp>
      <p:sp>
        <p:nvSpPr>
          <p:cNvPr id="4" name="Shape 2"/>
          <p:cNvSpPr/>
          <p:nvPr/>
        </p:nvSpPr>
        <p:spPr>
          <a:xfrm>
            <a:off x="877824" y="1389888"/>
            <a:ext cx="438912" cy="146304"/>
          </a:xfrm>
          <a:prstGeom prst="rect">
            <a:avLst/>
          </a:prstGeom>
          <a:solidFill>
            <a:schemeClr val="bg1"/>
          </a:solidFill>
          <a:ln w="12700">
            <a:solidFill>
              <a:schemeClr val="bg1"/>
            </a:solidFill>
            <a:prstDash val="solid"/>
          </a:ln>
        </p:spPr>
      </p:sp>
      <p:sp>
        <p:nvSpPr>
          <p:cNvPr id="5" name="Text 0"/>
          <p:cNvSpPr/>
          <p:nvPr>
            <p:ph idx="100" type="title" hasCustomPrompt="1"/>
          </p:nvPr>
        </p:nvSpPr>
        <p:spPr>
          <a:xfrm>
            <a:off x="731520" y="2194560"/>
            <a:ext cx="10698480" cy="1737360"/>
          </a:xfrm>
          <a:prstGeom prst="rect">
            <a:avLst/>
          </a:prstGeom>
          <a:noFill/>
          <a:ln/>
        </p:spPr>
        <p:txBody>
          <a:bodyPr wrap="square" lIns="0" tIns="0" rIns="0" bIns="0" rtlCol="0" anchor="b"/>
          <a:lstStyle/>
          <a:p>
            <a:pPr algn="l" indent="0" marL="0">
              <a:buNone/>
            </a:pPr>
            <a:r>
              <a:rPr lang="en-US" sz="4400" b="1" dirty="0">
                <a:solidFill>
                  <a:srgbClr val="FFFFFF"/>
                </a:solidFill>
              </a:rPr>
              <a:t>Fix the records first, then act</a:t>
            </a:r>
            <a:endParaRPr lang="en-US" sz="4400" dirty="0"/>
          </a:p>
        </p:txBody>
      </p:sp>
      <p:sp>
        <p:nvSpPr>
          <p:cNvPr id="6" name="Text 0"/>
          <p:cNvSpPr/>
          <p:nvPr>
            <p:ph idx="101" type="body" hasCustomPrompt="1"/>
          </p:nvPr>
        </p:nvSpPr>
        <p:spPr>
          <a:xfrm>
            <a:off x="731520" y="4114800"/>
            <a:ext cx="10698480" cy="1188720"/>
          </a:xfrm>
          <a:prstGeom prst="rect">
            <a:avLst/>
          </a:prstGeom>
          <a:noFill/>
          <a:ln/>
        </p:spPr>
        <p:txBody>
          <a:bodyPr wrap="square" lIns="0" tIns="0" rIns="0" bIns="0" rtlCol="0" anchor="t"/>
          <a:lstStyle/>
          <a:p>
            <a:pPr indent="0" marL="0">
              <a:buNone/>
            </a:pPr>
            <a:r>
              <a:rPr lang="en-US" sz="2000" dirty="0">
                <a:solidFill>
                  <a:srgbClr val="8FD0C8"/>
                </a:solidFill>
              </a:rPr>
              <a:t>Olabisi Amusan</a:t>
            </a:r>
            <a:endParaRPr lang="en-US" sz="2000" dirty="0"/>
          </a:p>
          <a:p>
            <a:pPr indent="0" marL="0">
              <a:buNone/>
            </a:pPr>
            <a:r>
              <a:rPr lang="en-US" sz="2000" dirty="0">
                <a:solidFill>
                  <a:srgbClr val="8FD0C8"/>
                </a:solidFill>
              </a:rPr>
              <a:t>linkedin.com/in/amusanolabisi  |  github.com/amusanolabisi</a:t>
            </a:r>
            <a:endParaRPr lang="en-US" sz="2000" dirty="0"/>
          </a:p>
        </p:txBody>
      </p:sp>
    </p:spTree>
  </p:cSld>
  <p:clrMapOvr>
    <a:masterClrMapping/>
  </p:clrMapOvr>
</p:sld>
</file>

<file path=ppt/theme/theme1.xml><?xml version="1.0" encoding="utf-8"?>
<a:theme xmlns:a="http://schemas.openxmlformats.org/drawingml/2006/main" name="HealthConnect">
  <a:themeElements>
    <a:clrScheme name="HealthConnect">
      <a:dk1>
        <a:srgbClr val="0B2A33"/>
      </a:dk1>
      <a:lt1>
        <a:srgbClr val="FFFFFF"/>
      </a:lt1>
      <a:dk2>
        <a:srgbClr val="0B3C49"/>
      </a:dk2>
      <a:lt2>
        <a:srgbClr val="EEF5F4"/>
      </a:lt2>
      <a:accent1>
        <a:srgbClr val="0F8B8D"/>
      </a:accent1>
      <a:accent2>
        <a:srgbClr val="5CE1C6"/>
      </a:accent2>
      <a:accent3>
        <a:srgbClr val="E4572E"/>
      </a:accent3>
      <a:accent4>
        <a:srgbClr val="F2A541"/>
      </a:accent4>
      <a:accent5>
        <a:srgbClr val="3F6A70"/>
      </a:accent5>
      <a:accent6>
        <a:srgbClr val="1B4651"/>
      </a:accent6>
      <a:hlink>
        <a:srgbClr val="0F8B8D"/>
      </a:hlink>
      <a:folHlink>
        <a:srgbClr val="3F6A70"/>
      </a:folHlink>
    </a:clrScheme>
    <a:fontScheme name="HealthConne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HealthConnect Rwanda: Healthcare Operations and Performance Analytics</dc:title>
  <dc:subject>PptxGenJS Presentation</dc:subject>
  <dc:creator>Olabisi Amusan</dc:creator>
  <cp:lastModifiedBy>Olabisi Amusan</cp:lastModifiedBy>
  <cp:revision>1</cp:revision>
  <dcterms:created xsi:type="dcterms:W3CDTF">2026-10-25T22:28:44Z</dcterms:created>
  <dcterms:modified xsi:type="dcterms:W3CDTF">2026-10-25T22:28:44Z</dcterms:modified>
</cp:coreProperties>
</file>